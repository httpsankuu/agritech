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Helvetica World" panose="020B0604020202020204" charset="-128"/>
      <p:regular r:id="rId17"/>
    </p:embeddedFont>
    <p:embeddedFont>
      <p:font typeface="Helvetica World Bold" panose="020B0604020202020204" charset="-128"/>
      <p:regular r:id="rId18"/>
    </p:embeddedFon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Canva Sans Bold" panose="020B0604020202020204" charset="0"/>
      <p:regular r:id="rId21"/>
    </p:embeddedFont>
    <p:embeddedFont>
      <p:font typeface="Garet 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1282" y="18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gritech-byankith.streamlit.app" TargetMode="External"/><Relationship Id="rId2" Type="http://schemas.openxmlformats.org/officeDocument/2006/relationships/hyperlink" Target="https://github.com/httpsankuu/agriTech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7458190">
            <a:off x="10477411" y="-4291124"/>
            <a:ext cx="13610886" cy="8302196"/>
            <a:chOff x="0" y="0"/>
            <a:chExt cx="1476351" cy="90052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76351" cy="900526"/>
            </a:xfrm>
            <a:custGeom>
              <a:avLst/>
              <a:gdLst/>
              <a:ahLst/>
              <a:cxnLst/>
              <a:rect l="l" t="t" r="r" b="b"/>
              <a:pathLst>
                <a:path w="1476351" h="900526">
                  <a:moveTo>
                    <a:pt x="0" y="0"/>
                  </a:moveTo>
                  <a:lnTo>
                    <a:pt x="1476351" y="0"/>
                  </a:lnTo>
                  <a:lnTo>
                    <a:pt x="1476351" y="900526"/>
                  </a:lnTo>
                  <a:lnTo>
                    <a:pt x="0" y="900526"/>
                  </a:lnTo>
                  <a:close/>
                </a:path>
              </a:pathLst>
            </a:custGeom>
            <a:solidFill>
              <a:srgbClr val="393C40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61925"/>
              <a:ext cx="1476351" cy="1062451"/>
            </a:xfrm>
            <a:prstGeom prst="rect">
              <a:avLst/>
            </a:prstGeom>
          </p:spPr>
          <p:txBody>
            <a:bodyPr lIns="123349" tIns="123349" rIns="123349" bIns="123349" rtlCol="0" anchor="ctr"/>
            <a:lstStyle/>
            <a:p>
              <a:pPr marL="0" lvl="0" indent="0" algn="ctr">
                <a:lnSpc>
                  <a:spcPts val="112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 rot="5400000">
            <a:off x="9296383" y="1330628"/>
            <a:ext cx="8302229" cy="8302196"/>
            <a:chOff x="0" y="0"/>
            <a:chExt cx="6350000" cy="634997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solidFill>
              <a:srgbClr val="393C40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10004210" y="2038438"/>
            <a:ext cx="6886575" cy="6886575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321144" y="1366226"/>
            <a:ext cx="8324850" cy="5355368"/>
            <a:chOff x="-249386" y="-1825500"/>
            <a:chExt cx="11099800" cy="7140491"/>
          </a:xfrm>
        </p:grpSpPr>
        <p:sp>
          <p:nvSpPr>
            <p:cNvPr id="10" name="TextBox 10"/>
            <p:cNvSpPr txBox="1"/>
            <p:nvPr/>
          </p:nvSpPr>
          <p:spPr>
            <a:xfrm>
              <a:off x="-249386" y="-1825500"/>
              <a:ext cx="11099800" cy="54013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0560"/>
                </a:lnSpc>
              </a:pPr>
              <a:r>
                <a:rPr lang="en-US" sz="9600" b="1" spc="-240" dirty="0">
                  <a:solidFill>
                    <a:srgbClr val="393C40"/>
                  </a:solidFill>
                  <a:latin typeface="Garet Bold"/>
                  <a:ea typeface="Garet Bold"/>
                  <a:cs typeface="Garet Bold"/>
                  <a:sym typeface="Garet Bold"/>
                </a:rPr>
                <a:t>Mandi to Market Optimizer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-249386" y="3774482"/>
              <a:ext cx="9588500" cy="15405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20"/>
                </a:lnSpc>
              </a:pPr>
              <a:r>
                <a:rPr lang="en-US" sz="2400" dirty="0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 comprehensive solution integrating data, analytics, and decision intelligence for the agricultural supply chain.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21144" y="495211"/>
            <a:ext cx="5448300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557A55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0BF9B8-3322-5F86-5FBE-B4DF1133DCA9}"/>
              </a:ext>
            </a:extLst>
          </p:cNvPr>
          <p:cNvSpPr txBox="1"/>
          <p:nvPr/>
        </p:nvSpPr>
        <p:spPr>
          <a:xfrm>
            <a:off x="321144" y="8801098"/>
            <a:ext cx="3224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2: Gnaneshwar Reddy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Reg.no. 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12510404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9B5C61-4D5B-37D5-3486-E3AE712C6660}"/>
              </a:ext>
            </a:extLst>
          </p:cNvPr>
          <p:cNvSpPr txBox="1"/>
          <p:nvPr/>
        </p:nvSpPr>
        <p:spPr>
          <a:xfrm>
            <a:off x="3622836" y="8801100"/>
            <a:ext cx="3224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3: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Kota Rohith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Reg.no. 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12516500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1DEA5D-0600-153D-EEE2-199B6EE2244B}"/>
              </a:ext>
            </a:extLst>
          </p:cNvPr>
          <p:cNvSpPr txBox="1"/>
          <p:nvPr/>
        </p:nvSpPr>
        <p:spPr>
          <a:xfrm>
            <a:off x="7116064" y="8801099"/>
            <a:ext cx="3224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4: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Santhosh Kumar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Reg.no. 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12510312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0CA6B1-780D-E0B4-474E-BA9114101CFC}"/>
              </a:ext>
            </a:extLst>
          </p:cNvPr>
          <p:cNvSpPr txBox="1"/>
          <p:nvPr/>
        </p:nvSpPr>
        <p:spPr>
          <a:xfrm>
            <a:off x="321144" y="7663564"/>
            <a:ext cx="3224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: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FourByte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1: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Ankit Kumar Singh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Reg.no. 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12504384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6" grpId="0"/>
      <p:bldP spid="17" grpId="0"/>
      <p:bldP spid="1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6886575" cy="3776980"/>
            <a:chOff x="0" y="0"/>
            <a:chExt cx="9182100" cy="5035974"/>
          </a:xfrm>
        </p:grpSpPr>
        <p:sp>
          <p:nvSpPr>
            <p:cNvPr id="3" name="TextBox 3"/>
            <p:cNvSpPr txBox="1"/>
            <p:nvPr/>
          </p:nvSpPr>
          <p:spPr>
            <a:xfrm>
              <a:off x="0" y="76200"/>
              <a:ext cx="9182100" cy="14621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359"/>
                </a:lnSpc>
              </a:pPr>
              <a:r>
                <a:rPr lang="en-US" sz="7599" b="1" spc="-189">
                  <a:solidFill>
                    <a:srgbClr val="393C40"/>
                  </a:solidFill>
                  <a:latin typeface="Garet Bold"/>
                  <a:ea typeface="Garet Bold"/>
                  <a:cs typeface="Garet Bold"/>
                  <a:sym typeface="Garet Bold"/>
                </a:rPr>
                <a:t>The Problem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330450"/>
              <a:ext cx="7264400" cy="2705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India's agricultural supply chain generates </a:t>
              </a:r>
              <a:r>
                <a:rPr lang="en-US" sz="2799" b="1">
                  <a:solidFill>
                    <a:srgbClr val="393C4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data but lacks intelligence</a:t>
              </a: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, creating challenges for effective decision-making.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296400" y="-8101220"/>
            <a:ext cx="15250896" cy="17734061"/>
            <a:chOff x="0" y="0"/>
            <a:chExt cx="20334528" cy="23645414"/>
          </a:xfrm>
        </p:grpSpPr>
        <p:grpSp>
          <p:nvGrpSpPr>
            <p:cNvPr id="6" name="Group 6"/>
            <p:cNvGrpSpPr/>
            <p:nvPr/>
          </p:nvGrpSpPr>
          <p:grpSpPr>
            <a:xfrm rot="7458190">
              <a:off x="1574682" y="5080128"/>
              <a:ext cx="18147848" cy="11069594"/>
              <a:chOff x="0" y="0"/>
              <a:chExt cx="1476351" cy="90052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476351" cy="900526"/>
              </a:xfrm>
              <a:custGeom>
                <a:avLst/>
                <a:gdLst/>
                <a:ahLst/>
                <a:cxnLst/>
                <a:rect l="l" t="t" r="r" b="b"/>
                <a:pathLst>
                  <a:path w="1476351" h="900526">
                    <a:moveTo>
                      <a:pt x="0" y="0"/>
                    </a:moveTo>
                    <a:lnTo>
                      <a:pt x="1476351" y="0"/>
                    </a:lnTo>
                    <a:lnTo>
                      <a:pt x="1476351" y="900526"/>
                    </a:lnTo>
                    <a:lnTo>
                      <a:pt x="0" y="900526"/>
                    </a:lnTo>
                    <a:close/>
                  </a:path>
                </a:pathLst>
              </a:custGeom>
              <a:solidFill>
                <a:srgbClr val="393C4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161925"/>
                <a:ext cx="1476351" cy="1062451"/>
              </a:xfrm>
              <a:prstGeom prst="rect">
                <a:avLst/>
              </a:prstGeom>
            </p:spPr>
            <p:txBody>
              <a:bodyPr lIns="123349" tIns="123349" rIns="123349" bIns="123349" rtlCol="0" anchor="ctr"/>
              <a:lstStyle/>
              <a:p>
                <a:pPr marL="0" lvl="0" indent="0" algn="ctr">
                  <a:lnSpc>
                    <a:spcPts val="112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 rot="5400000">
              <a:off x="-22" y="12575798"/>
              <a:ext cx="11069639" cy="11069594"/>
              <a:chOff x="0" y="0"/>
              <a:chExt cx="6350000" cy="634997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solidFill>
                <a:srgbClr val="393C40"/>
              </a:solid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943747" y="13519545"/>
              <a:ext cx="9182100" cy="9182100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/>
                </a:stretch>
              </a:blipFill>
            </p:spPr>
          </p:sp>
        </p:grpSp>
      </p:grpSp>
      <p:sp>
        <p:nvSpPr>
          <p:cNvPr id="13" name="TextBox 13"/>
          <p:cNvSpPr txBox="1"/>
          <p:nvPr/>
        </p:nvSpPr>
        <p:spPr>
          <a:xfrm>
            <a:off x="666750" y="4941565"/>
            <a:ext cx="5424237" cy="2462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>
                <a:solidFill>
                  <a:srgbClr val="393C4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Messy crop names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>
                <a:solidFill>
                  <a:srgbClr val="393C4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Mixed units 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>
                <a:solidFill>
                  <a:srgbClr val="393C4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Missing values 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>
                <a:solidFill>
                  <a:srgbClr val="393C4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Invalid transit times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>
                <a:solidFill>
                  <a:srgbClr val="393C4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Different timestamps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246984" y="513397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6886575" cy="4395946"/>
            <a:chOff x="0" y="0"/>
            <a:chExt cx="9182100" cy="5861262"/>
          </a:xfrm>
        </p:grpSpPr>
        <p:sp>
          <p:nvSpPr>
            <p:cNvPr id="3" name="TextBox 3"/>
            <p:cNvSpPr txBox="1"/>
            <p:nvPr/>
          </p:nvSpPr>
          <p:spPr>
            <a:xfrm>
              <a:off x="0" y="76200"/>
              <a:ext cx="8596926" cy="14621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359"/>
                </a:lnSpc>
              </a:pPr>
              <a:r>
                <a:rPr lang="en-US" sz="7599" b="1" spc="-189">
                  <a:solidFill>
                    <a:srgbClr val="393C40"/>
                  </a:solidFill>
                  <a:latin typeface="Garet Bold"/>
                  <a:ea typeface="Garet Bold"/>
                  <a:cs typeface="Garet Bold"/>
                  <a:sym typeface="Garet Bold"/>
                </a:rPr>
                <a:t>Our Solution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330450"/>
              <a:ext cx="9182100" cy="673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 b="1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Mandi Intelligence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3206538"/>
              <a:ext cx="7264400" cy="2654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Transforming messy datasets into actionable insights requires a </a:t>
              </a:r>
              <a:r>
                <a:rPr lang="en-US" sz="2799" b="1">
                  <a:solidFill>
                    <a:srgbClr val="393C4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streamlined process</a:t>
              </a: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for effective decision-making and analysis.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296400" y="-8101220"/>
            <a:ext cx="15250896" cy="17734061"/>
            <a:chOff x="0" y="0"/>
            <a:chExt cx="20334528" cy="23645414"/>
          </a:xfrm>
        </p:grpSpPr>
        <p:grpSp>
          <p:nvGrpSpPr>
            <p:cNvPr id="7" name="Group 7"/>
            <p:cNvGrpSpPr/>
            <p:nvPr/>
          </p:nvGrpSpPr>
          <p:grpSpPr>
            <a:xfrm rot="7458190">
              <a:off x="1574682" y="5080128"/>
              <a:ext cx="18147848" cy="11069594"/>
              <a:chOff x="0" y="0"/>
              <a:chExt cx="1476351" cy="90052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76351" cy="900526"/>
              </a:xfrm>
              <a:custGeom>
                <a:avLst/>
                <a:gdLst/>
                <a:ahLst/>
                <a:cxnLst/>
                <a:rect l="l" t="t" r="r" b="b"/>
                <a:pathLst>
                  <a:path w="1476351" h="900526">
                    <a:moveTo>
                      <a:pt x="0" y="0"/>
                    </a:moveTo>
                    <a:lnTo>
                      <a:pt x="1476351" y="0"/>
                    </a:lnTo>
                    <a:lnTo>
                      <a:pt x="1476351" y="900526"/>
                    </a:lnTo>
                    <a:lnTo>
                      <a:pt x="0" y="900526"/>
                    </a:lnTo>
                    <a:close/>
                  </a:path>
                </a:pathLst>
              </a:custGeom>
              <a:solidFill>
                <a:srgbClr val="393C4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161925"/>
                <a:ext cx="1476351" cy="1062451"/>
              </a:xfrm>
              <a:prstGeom prst="rect">
                <a:avLst/>
              </a:prstGeom>
            </p:spPr>
            <p:txBody>
              <a:bodyPr lIns="123349" tIns="123349" rIns="123349" bIns="123349" rtlCol="0" anchor="ctr"/>
              <a:lstStyle/>
              <a:p>
                <a:pPr marL="0" lvl="0" indent="0" algn="ctr">
                  <a:lnSpc>
                    <a:spcPts val="112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 rot="5400000">
              <a:off x="-22" y="12575798"/>
              <a:ext cx="11069639" cy="11069594"/>
              <a:chOff x="0" y="0"/>
              <a:chExt cx="6350000" cy="6349975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solidFill>
                <a:srgbClr val="393C40"/>
              </a:solidFill>
            </p:spPr>
          </p:sp>
        </p:grpSp>
        <p:grpSp>
          <p:nvGrpSpPr>
            <p:cNvPr id="12" name="Group 12"/>
            <p:cNvGrpSpPr/>
            <p:nvPr/>
          </p:nvGrpSpPr>
          <p:grpSpPr>
            <a:xfrm>
              <a:off x="943747" y="13519545"/>
              <a:ext cx="9182100" cy="9182100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/>
                </a:stretch>
              </a:blipFill>
            </p:spPr>
          </p:sp>
        </p:grpSp>
      </p:grpSp>
      <p:sp>
        <p:nvSpPr>
          <p:cNvPr id="14" name="TextBox 14"/>
          <p:cNvSpPr txBox="1"/>
          <p:nvPr/>
        </p:nvSpPr>
        <p:spPr>
          <a:xfrm>
            <a:off x="666750" y="5335211"/>
            <a:ext cx="8317897" cy="1068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RAW DATA → CLEANING → SQLITE </a:t>
            </a:r>
          </a:p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→ ANALYTICS → DASHBOARD → AI AGENT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246984" y="513397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742950"/>
            <a:ext cx="11506200" cy="1077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</a:pPr>
            <a:r>
              <a:rPr lang="en-US" sz="7599" b="1" spc="-189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Data Trustworthiness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6750" y="3258160"/>
            <a:ext cx="4010025" cy="3100546"/>
            <a:chOff x="0" y="0"/>
            <a:chExt cx="5346700" cy="4134062"/>
          </a:xfrm>
        </p:grpSpPr>
        <p:sp>
          <p:nvSpPr>
            <p:cNvPr id="4" name="TextBox 4"/>
            <p:cNvSpPr txBox="1"/>
            <p:nvPr/>
          </p:nvSpPr>
          <p:spPr>
            <a:xfrm>
              <a:off x="0" y="-57150"/>
              <a:ext cx="5346700" cy="673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 b="1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Standardization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818938"/>
              <a:ext cx="5346700" cy="33151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Implementing consistent </a:t>
              </a:r>
              <a:r>
                <a:rPr lang="en-US" sz="2799" b="1">
                  <a:solidFill>
                    <a:srgbClr val="393C4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crop name</a:t>
              </a: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and Mandi ID formats ensures a reliable data foundation for analysis.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995569" y="3258160"/>
            <a:ext cx="4010025" cy="3557746"/>
            <a:chOff x="0" y="0"/>
            <a:chExt cx="5346700" cy="4743662"/>
          </a:xfrm>
        </p:grpSpPr>
        <p:sp>
          <p:nvSpPr>
            <p:cNvPr id="7" name="TextBox 7"/>
            <p:cNvSpPr txBox="1"/>
            <p:nvPr/>
          </p:nvSpPr>
          <p:spPr>
            <a:xfrm>
              <a:off x="0" y="-57150"/>
              <a:ext cx="5346700" cy="673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 b="1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Conversion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818938"/>
              <a:ext cx="5346700" cy="3924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Converting measurements like quantity to quintals and distance to kilometers enhances data integrity and usability.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984381" y="3258160"/>
            <a:ext cx="4010025" cy="3062446"/>
            <a:chOff x="0" y="0"/>
            <a:chExt cx="5346700" cy="4083262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57150"/>
              <a:ext cx="5346700" cy="673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 b="1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Validation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818938"/>
              <a:ext cx="5346700" cy="32643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Identifying and excluding invalid records, such as negative transit times, guarantees data quality throughout the pipeline.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9040" y="8197032"/>
            <a:ext cx="15116166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b="1" u="none" strike="noStrike">
                <a:solidFill>
                  <a:srgbClr val="393C4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57 Mandis     25,000 Arrivals     12,000 Prices     10,000 Trips     15,000 Weather Records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727092" y="331470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557A55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742950"/>
            <a:ext cx="8629650" cy="1077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</a:pPr>
            <a:r>
              <a:rPr lang="en-US" sz="7599" b="1" spc="-189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Analytics Engine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2172950" y="7834312"/>
            <a:ext cx="5448300" cy="1737360"/>
            <a:chOff x="0" y="0"/>
            <a:chExt cx="7264400" cy="2316480"/>
          </a:xfrm>
        </p:grpSpPr>
        <p:sp>
          <p:nvSpPr>
            <p:cNvPr id="4" name="TextBox 4"/>
            <p:cNvSpPr txBox="1"/>
            <p:nvPr/>
          </p:nvSpPr>
          <p:spPr>
            <a:xfrm>
              <a:off x="0" y="-38100"/>
              <a:ext cx="7264400" cy="566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Clean Architecture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744855"/>
              <a:ext cx="7264400" cy="1571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49"/>
                </a:lnSpc>
                <a:spcBef>
                  <a:spcPct val="0"/>
                </a:spcBef>
              </a:pPr>
              <a:r>
                <a:rPr lang="en-US" sz="225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 streamlined structure supports data flow, ensuring that cleaned data effectively feeds into the analytics layer for reliable analysis.</a:t>
              </a: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734675" y="7806690"/>
            <a:ext cx="585578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1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03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2172950" y="5148262"/>
            <a:ext cx="5448300" cy="2137410"/>
            <a:chOff x="0" y="0"/>
            <a:chExt cx="7264400" cy="2849880"/>
          </a:xfrm>
        </p:grpSpPr>
        <p:sp>
          <p:nvSpPr>
            <p:cNvPr id="8" name="TextBox 8"/>
            <p:cNvSpPr txBox="1"/>
            <p:nvPr/>
          </p:nvSpPr>
          <p:spPr>
            <a:xfrm>
              <a:off x="0" y="-38100"/>
              <a:ext cx="7264400" cy="566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SQLite Database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44855"/>
              <a:ext cx="7264400" cy="21050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49"/>
                </a:lnSpc>
                <a:spcBef>
                  <a:spcPct val="0"/>
                </a:spcBef>
              </a:pPr>
              <a:r>
                <a:rPr lang="en-US" sz="225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Utilizing SQLite, the architecture efficiently stores and exposes various analytical views, enhancing data retrieval for stakeholders.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734675" y="5120640"/>
            <a:ext cx="585578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1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02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2172950" y="2457450"/>
            <a:ext cx="5448300" cy="2137410"/>
            <a:chOff x="0" y="0"/>
            <a:chExt cx="7264400" cy="2849880"/>
          </a:xfrm>
        </p:grpSpPr>
        <p:sp>
          <p:nvSpPr>
            <p:cNvPr id="12" name="TextBox 12"/>
            <p:cNvSpPr txBox="1"/>
            <p:nvPr/>
          </p:nvSpPr>
          <p:spPr>
            <a:xfrm>
              <a:off x="0" y="744855"/>
              <a:ext cx="7264400" cy="21050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49"/>
                </a:lnSpc>
              </a:pPr>
              <a:r>
                <a:rPr lang="en-US" sz="2250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This analytical layer produces insights for decision-makers, providing multiple signals from cleaned datasets for actionable intelligence.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7264400" cy="566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Decision Signals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734675" y="2434590"/>
            <a:ext cx="585578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1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01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46820" y="2853690"/>
            <a:ext cx="2483069" cy="1486193"/>
            <a:chOff x="0" y="0"/>
            <a:chExt cx="1181956" cy="70743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81956" cy="707437"/>
            </a:xfrm>
            <a:custGeom>
              <a:avLst/>
              <a:gdLst/>
              <a:ahLst/>
              <a:cxnLst/>
              <a:rect l="l" t="t" r="r" b="b"/>
              <a:pathLst>
                <a:path w="1181956" h="707437">
                  <a:moveTo>
                    <a:pt x="140305" y="0"/>
                  </a:moveTo>
                  <a:lnTo>
                    <a:pt x="1041652" y="0"/>
                  </a:lnTo>
                  <a:cubicBezTo>
                    <a:pt x="1078863" y="0"/>
                    <a:pt x="1114550" y="14782"/>
                    <a:pt x="1140862" y="41094"/>
                  </a:cubicBezTo>
                  <a:cubicBezTo>
                    <a:pt x="1167174" y="67407"/>
                    <a:pt x="1181956" y="103094"/>
                    <a:pt x="1181956" y="140305"/>
                  </a:cubicBezTo>
                  <a:lnTo>
                    <a:pt x="1181956" y="567132"/>
                  </a:lnTo>
                  <a:cubicBezTo>
                    <a:pt x="1181956" y="644620"/>
                    <a:pt x="1119140" y="707437"/>
                    <a:pt x="1041652" y="707437"/>
                  </a:cubicBezTo>
                  <a:lnTo>
                    <a:pt x="140305" y="707437"/>
                  </a:lnTo>
                  <a:cubicBezTo>
                    <a:pt x="103094" y="707437"/>
                    <a:pt x="67407" y="692655"/>
                    <a:pt x="41094" y="666343"/>
                  </a:cubicBezTo>
                  <a:cubicBezTo>
                    <a:pt x="14782" y="640031"/>
                    <a:pt x="0" y="604343"/>
                    <a:pt x="0" y="567132"/>
                  </a:cubicBezTo>
                  <a:lnTo>
                    <a:pt x="0" y="140305"/>
                  </a:lnTo>
                  <a:cubicBezTo>
                    <a:pt x="0" y="103094"/>
                    <a:pt x="14782" y="67407"/>
                    <a:pt x="41094" y="41094"/>
                  </a:cubicBezTo>
                  <a:cubicBezTo>
                    <a:pt x="67407" y="14782"/>
                    <a:pt x="103094" y="0"/>
                    <a:pt x="140305" y="0"/>
                  </a:cubicBezTo>
                  <a:close/>
                </a:path>
              </a:pathLst>
            </a:custGeom>
            <a:solidFill>
              <a:srgbClr val="393C40"/>
            </a:solidFill>
            <a:ln cap="rnd">
              <a:noFill/>
              <a:prstDash val="solid"/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47625"/>
              <a:ext cx="1181956" cy="659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5527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46504" y="3222280"/>
            <a:ext cx="2083702" cy="776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58"/>
              </a:lnSpc>
            </a:pPr>
            <a:r>
              <a:rPr lang="en-US" sz="2780" b="1" spc="-69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5,659,184.82 Qtl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145690" y="2853690"/>
            <a:ext cx="2483069" cy="1486193"/>
            <a:chOff x="0" y="0"/>
            <a:chExt cx="1181956" cy="70743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181956" cy="707437"/>
            </a:xfrm>
            <a:custGeom>
              <a:avLst/>
              <a:gdLst/>
              <a:ahLst/>
              <a:cxnLst/>
              <a:rect l="l" t="t" r="r" b="b"/>
              <a:pathLst>
                <a:path w="1181956" h="707437">
                  <a:moveTo>
                    <a:pt x="140305" y="0"/>
                  </a:moveTo>
                  <a:lnTo>
                    <a:pt x="1041652" y="0"/>
                  </a:lnTo>
                  <a:cubicBezTo>
                    <a:pt x="1078863" y="0"/>
                    <a:pt x="1114550" y="14782"/>
                    <a:pt x="1140862" y="41094"/>
                  </a:cubicBezTo>
                  <a:cubicBezTo>
                    <a:pt x="1167174" y="67407"/>
                    <a:pt x="1181956" y="103094"/>
                    <a:pt x="1181956" y="140305"/>
                  </a:cubicBezTo>
                  <a:lnTo>
                    <a:pt x="1181956" y="567132"/>
                  </a:lnTo>
                  <a:cubicBezTo>
                    <a:pt x="1181956" y="644620"/>
                    <a:pt x="1119140" y="707437"/>
                    <a:pt x="1041652" y="707437"/>
                  </a:cubicBezTo>
                  <a:lnTo>
                    <a:pt x="140305" y="707437"/>
                  </a:lnTo>
                  <a:cubicBezTo>
                    <a:pt x="103094" y="707437"/>
                    <a:pt x="67407" y="692655"/>
                    <a:pt x="41094" y="666343"/>
                  </a:cubicBezTo>
                  <a:cubicBezTo>
                    <a:pt x="14782" y="640031"/>
                    <a:pt x="0" y="604343"/>
                    <a:pt x="0" y="567132"/>
                  </a:cubicBezTo>
                  <a:lnTo>
                    <a:pt x="0" y="140305"/>
                  </a:lnTo>
                  <a:cubicBezTo>
                    <a:pt x="0" y="103094"/>
                    <a:pt x="14782" y="67407"/>
                    <a:pt x="41094" y="41094"/>
                  </a:cubicBezTo>
                  <a:cubicBezTo>
                    <a:pt x="67407" y="14782"/>
                    <a:pt x="103094" y="0"/>
                    <a:pt x="140305" y="0"/>
                  </a:cubicBezTo>
                  <a:close/>
                </a:path>
              </a:pathLst>
            </a:custGeom>
            <a:solidFill>
              <a:srgbClr val="393C40"/>
            </a:solidFill>
            <a:ln cap="rnd">
              <a:noFill/>
              <a:prstDash val="solid"/>
              <a:round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47625"/>
              <a:ext cx="1181956" cy="659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5527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4345374" y="3414642"/>
            <a:ext cx="2083702" cy="391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58"/>
              </a:lnSpc>
            </a:pPr>
            <a:r>
              <a:rPr lang="en-US" sz="2780" b="1" spc="-69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3,924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7245372" y="2853690"/>
            <a:ext cx="2483069" cy="1486193"/>
            <a:chOff x="0" y="0"/>
            <a:chExt cx="1181956" cy="70743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181956" cy="707437"/>
            </a:xfrm>
            <a:custGeom>
              <a:avLst/>
              <a:gdLst/>
              <a:ahLst/>
              <a:cxnLst/>
              <a:rect l="l" t="t" r="r" b="b"/>
              <a:pathLst>
                <a:path w="1181956" h="707437">
                  <a:moveTo>
                    <a:pt x="140305" y="0"/>
                  </a:moveTo>
                  <a:lnTo>
                    <a:pt x="1041652" y="0"/>
                  </a:lnTo>
                  <a:cubicBezTo>
                    <a:pt x="1078863" y="0"/>
                    <a:pt x="1114550" y="14782"/>
                    <a:pt x="1140862" y="41094"/>
                  </a:cubicBezTo>
                  <a:cubicBezTo>
                    <a:pt x="1167174" y="67407"/>
                    <a:pt x="1181956" y="103094"/>
                    <a:pt x="1181956" y="140305"/>
                  </a:cubicBezTo>
                  <a:lnTo>
                    <a:pt x="1181956" y="567132"/>
                  </a:lnTo>
                  <a:cubicBezTo>
                    <a:pt x="1181956" y="644620"/>
                    <a:pt x="1119140" y="707437"/>
                    <a:pt x="1041652" y="707437"/>
                  </a:cubicBezTo>
                  <a:lnTo>
                    <a:pt x="140305" y="707437"/>
                  </a:lnTo>
                  <a:cubicBezTo>
                    <a:pt x="103094" y="707437"/>
                    <a:pt x="67407" y="692655"/>
                    <a:pt x="41094" y="666343"/>
                  </a:cubicBezTo>
                  <a:cubicBezTo>
                    <a:pt x="14782" y="640031"/>
                    <a:pt x="0" y="604343"/>
                    <a:pt x="0" y="567132"/>
                  </a:cubicBezTo>
                  <a:lnTo>
                    <a:pt x="0" y="140305"/>
                  </a:lnTo>
                  <a:cubicBezTo>
                    <a:pt x="0" y="103094"/>
                    <a:pt x="14782" y="67407"/>
                    <a:pt x="41094" y="41094"/>
                  </a:cubicBezTo>
                  <a:cubicBezTo>
                    <a:pt x="67407" y="14782"/>
                    <a:pt x="103094" y="0"/>
                    <a:pt x="140305" y="0"/>
                  </a:cubicBezTo>
                  <a:close/>
                </a:path>
              </a:pathLst>
            </a:custGeom>
            <a:solidFill>
              <a:srgbClr val="393C40"/>
            </a:solidFill>
            <a:ln cap="rnd">
              <a:noFill/>
              <a:prstDash val="solid"/>
              <a:round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47625"/>
              <a:ext cx="1181956" cy="659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5527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445055" y="3415344"/>
            <a:ext cx="2083702" cy="391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58"/>
              </a:lnSpc>
            </a:pPr>
            <a:r>
              <a:rPr lang="en-US" sz="2780" b="1" spc="-69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18.68%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46820" y="4505114"/>
            <a:ext cx="2483069" cy="253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68"/>
              </a:lnSpc>
              <a:spcBef>
                <a:spcPct val="0"/>
              </a:spcBef>
            </a:pPr>
            <a:r>
              <a:rPr lang="en-US" sz="1549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Total crop arrivals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45690" y="4505114"/>
            <a:ext cx="2483069" cy="253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68"/>
              </a:lnSpc>
              <a:spcBef>
                <a:spcPct val="0"/>
              </a:spcBef>
            </a:pPr>
            <a:r>
              <a:rPr lang="en-US" sz="1549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Price crash instances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394356" y="4505114"/>
            <a:ext cx="2483069" cy="253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68"/>
              </a:lnSpc>
            </a:pPr>
            <a:r>
              <a:rPr lang="en-US" sz="1549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Transport delay rate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4145690" y="5038552"/>
            <a:ext cx="2483069" cy="1905173"/>
            <a:chOff x="0" y="0"/>
            <a:chExt cx="3310759" cy="2540231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3310759" cy="1981591"/>
              <a:chOff x="0" y="0"/>
              <a:chExt cx="1181956" cy="707437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181956" cy="707437"/>
              </a:xfrm>
              <a:custGeom>
                <a:avLst/>
                <a:gdLst/>
                <a:ahLst/>
                <a:cxnLst/>
                <a:rect l="l" t="t" r="r" b="b"/>
                <a:pathLst>
                  <a:path w="1181956" h="707437">
                    <a:moveTo>
                      <a:pt x="77631" y="0"/>
                    </a:moveTo>
                    <a:lnTo>
                      <a:pt x="1104326" y="0"/>
                    </a:lnTo>
                    <a:cubicBezTo>
                      <a:pt x="1147200" y="0"/>
                      <a:pt x="1181956" y="34756"/>
                      <a:pt x="1181956" y="77631"/>
                    </a:cubicBezTo>
                    <a:lnTo>
                      <a:pt x="1181956" y="629806"/>
                    </a:lnTo>
                    <a:cubicBezTo>
                      <a:pt x="1181956" y="672681"/>
                      <a:pt x="1147200" y="707437"/>
                      <a:pt x="1104326" y="707437"/>
                    </a:cubicBezTo>
                    <a:lnTo>
                      <a:pt x="77631" y="707437"/>
                    </a:lnTo>
                    <a:cubicBezTo>
                      <a:pt x="34756" y="707437"/>
                      <a:pt x="0" y="672681"/>
                      <a:pt x="0" y="629806"/>
                    </a:cubicBezTo>
                    <a:lnTo>
                      <a:pt x="0" y="77631"/>
                    </a:lnTo>
                    <a:cubicBezTo>
                      <a:pt x="0" y="34756"/>
                      <a:pt x="34756" y="0"/>
                      <a:pt x="77631" y="0"/>
                    </a:cubicBezTo>
                    <a:close/>
                  </a:path>
                </a:pathLst>
              </a:custGeom>
              <a:solidFill>
                <a:srgbClr val="393C40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0" y="47625"/>
                <a:ext cx="1181956" cy="659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5527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266245" y="738411"/>
              <a:ext cx="2778269" cy="5314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058"/>
                </a:lnSpc>
              </a:pPr>
              <a:r>
                <a:rPr lang="en-US" sz="2780" b="1" spc="-69">
                  <a:solidFill>
                    <a:srgbClr val="DED7C4"/>
                  </a:solidFill>
                  <a:latin typeface="Garet Bold"/>
                  <a:ea typeface="Garet Bold"/>
                  <a:cs typeface="Garet Bold"/>
                  <a:sym typeface="Garet Bold"/>
                </a:rPr>
                <a:t>342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2208248"/>
              <a:ext cx="3310759" cy="3319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168"/>
                </a:lnSpc>
                <a:spcBef>
                  <a:spcPct val="0"/>
                </a:spcBef>
              </a:pPr>
              <a:r>
                <a:rPr lang="en-US" sz="154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Rout</a:t>
              </a:r>
              <a:r>
                <a:rPr lang="en-US" sz="154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 Monitored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4727092" y="331470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557A55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9050"/>
            <a:ext cx="8424862" cy="10267950"/>
            <a:chOff x="0" y="0"/>
            <a:chExt cx="2218894" cy="270431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18894" cy="2704316"/>
            </a:xfrm>
            <a:custGeom>
              <a:avLst/>
              <a:gdLst/>
              <a:ahLst/>
              <a:cxnLst/>
              <a:rect l="l" t="t" r="r" b="b"/>
              <a:pathLst>
                <a:path w="2218894" h="2704316">
                  <a:moveTo>
                    <a:pt x="0" y="0"/>
                  </a:moveTo>
                  <a:lnTo>
                    <a:pt x="2218894" y="0"/>
                  </a:lnTo>
                  <a:lnTo>
                    <a:pt x="2218894" y="2704316"/>
                  </a:lnTo>
                  <a:lnTo>
                    <a:pt x="0" y="2704316"/>
                  </a:lnTo>
                  <a:close/>
                </a:path>
              </a:pathLst>
            </a:custGeom>
            <a:solidFill>
              <a:srgbClr val="DED7C4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18894" cy="27614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9417519" y="2906047"/>
            <a:ext cx="6850042" cy="3224392"/>
          </a:xfrm>
          <a:custGeom>
            <a:avLst/>
            <a:gdLst/>
            <a:ahLst/>
            <a:cxnLst/>
            <a:rect l="l" t="t" r="r" b="b"/>
            <a:pathLst>
              <a:path w="6850042" h="3224392">
                <a:moveTo>
                  <a:pt x="0" y="0"/>
                </a:moveTo>
                <a:lnTo>
                  <a:pt x="6850042" y="0"/>
                </a:lnTo>
                <a:lnTo>
                  <a:pt x="6850042" y="3224392"/>
                </a:lnTo>
                <a:lnTo>
                  <a:pt x="0" y="32243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6" name="TextBox 6"/>
          <p:cNvSpPr txBox="1"/>
          <p:nvPr/>
        </p:nvSpPr>
        <p:spPr>
          <a:xfrm>
            <a:off x="9223040" y="6348114"/>
            <a:ext cx="6886575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  <a:spcBef>
                <a:spcPct val="0"/>
              </a:spcBef>
            </a:pPr>
            <a:r>
              <a:rPr lang="en-US" sz="1800" b="1" u="none" strike="noStrike">
                <a:solidFill>
                  <a:srgbClr val="393C4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Source: AgriTech Analytics Database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296400" y="742950"/>
            <a:ext cx="6886575" cy="2134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</a:pPr>
            <a:r>
              <a:rPr lang="en-US" sz="7599" b="1" spc="-189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Supply Intelligence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296400" y="7291070"/>
            <a:ext cx="8324850" cy="196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Ranked by arrival volume and crop-wise distribution, drawn from the cleaned Crop Arrivals dataset. The daily trend excludes the dataset's blank-date aggregate row (4,825,951.80 Qtl).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3758" y="971550"/>
            <a:ext cx="7084984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7"/>
              </a:lnSpc>
            </a:pPr>
            <a:r>
              <a:rPr lang="en-US" sz="222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TOP 5 MANDIS BY ARRIVAL VOLUME (QTL)</a:t>
            </a:r>
          </a:p>
          <a:p>
            <a:pPr algn="l">
              <a:lnSpc>
                <a:spcPts val="3117"/>
              </a:lnSpc>
            </a:pPr>
            <a:r>
              <a:rPr lang="en-US" sz="222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1. South Dumdum Grain Market — 20,539</a:t>
            </a:r>
          </a:p>
          <a:p>
            <a:pPr algn="l">
              <a:lnSpc>
                <a:spcPts val="3117"/>
              </a:lnSpc>
            </a:pPr>
            <a:r>
              <a:rPr lang="en-US" sz="222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2. Arrah Mandi — 20,454</a:t>
            </a:r>
          </a:p>
          <a:p>
            <a:pPr algn="l">
              <a:lnSpc>
                <a:spcPts val="3117"/>
              </a:lnSpc>
            </a:pPr>
            <a:r>
              <a:rPr lang="en-US" sz="222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3. Gurgaon Grain Market — 18,923</a:t>
            </a:r>
          </a:p>
          <a:p>
            <a:pPr algn="l">
              <a:lnSpc>
                <a:spcPts val="3117"/>
              </a:lnSpc>
            </a:pPr>
            <a:r>
              <a:rPr lang="en-US" sz="222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4. Asansol Grain Market — 17,948</a:t>
            </a:r>
          </a:p>
          <a:p>
            <a:pPr algn="l">
              <a:lnSpc>
                <a:spcPts val="3117"/>
              </a:lnSpc>
            </a:pPr>
            <a:r>
              <a:rPr lang="en-US" sz="222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5. Hyderabad Mandi — 17,863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37833" y="5809021"/>
            <a:ext cx="7296835" cy="1106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2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CROP-WISE ARRIVAL DISTRIBUTION (QTL)</a:t>
            </a:r>
          </a:p>
          <a:p>
            <a:pPr algn="l">
              <a:lnSpc>
                <a:spcPts val="2974"/>
              </a:lnSpc>
            </a:pPr>
            <a:r>
              <a:rPr lang="en-US" sz="2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Mustard 966,396    Wheat 965,396    Sugarcane 949,853</a:t>
            </a:r>
          </a:p>
          <a:p>
            <a:pPr algn="l">
              <a:lnSpc>
                <a:spcPts val="2974"/>
              </a:lnSpc>
            </a:pPr>
            <a:r>
              <a:rPr lang="en-US" sz="2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Maize 940,987    Cotton 922,311    Rice 914,242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727092" y="331470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557A55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742950"/>
            <a:ext cx="6886575" cy="2134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  <a:spcBef>
                <a:spcPct val="0"/>
              </a:spcBef>
            </a:pPr>
            <a:r>
              <a:rPr lang="en-US" sz="7599" b="1" u="none" strike="noStrike" spc="-189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Price Discovery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6750" y="7426374"/>
            <a:ext cx="6886575" cy="2206466"/>
            <a:chOff x="0" y="0"/>
            <a:chExt cx="9182100" cy="2941954"/>
          </a:xfrm>
        </p:grpSpPr>
        <p:sp>
          <p:nvSpPr>
            <p:cNvPr id="4" name="TextBox 4"/>
            <p:cNvSpPr txBox="1"/>
            <p:nvPr/>
          </p:nvSpPr>
          <p:spPr>
            <a:xfrm>
              <a:off x="0" y="-38100"/>
              <a:ext cx="9182100" cy="566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Price Crash Instances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749934"/>
              <a:ext cx="9182100" cy="21920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Definition: Price crash = Modal Price &lt; MSP. 610 records missing Modal Price. 2,377 records missing MSP. Does not establish why crashes occurred.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615445" y="-11887012"/>
            <a:ext cx="15250896" cy="17734061"/>
            <a:chOff x="0" y="0"/>
            <a:chExt cx="20334528" cy="23645414"/>
          </a:xfrm>
        </p:grpSpPr>
        <p:grpSp>
          <p:nvGrpSpPr>
            <p:cNvPr id="7" name="Group 7"/>
            <p:cNvGrpSpPr/>
            <p:nvPr/>
          </p:nvGrpSpPr>
          <p:grpSpPr>
            <a:xfrm rot="7458190">
              <a:off x="1574682" y="5080128"/>
              <a:ext cx="18147848" cy="11069594"/>
              <a:chOff x="0" y="0"/>
              <a:chExt cx="1476351" cy="90052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76351" cy="900526"/>
              </a:xfrm>
              <a:custGeom>
                <a:avLst/>
                <a:gdLst/>
                <a:ahLst/>
                <a:cxnLst/>
                <a:rect l="l" t="t" r="r" b="b"/>
                <a:pathLst>
                  <a:path w="1476351" h="900526">
                    <a:moveTo>
                      <a:pt x="0" y="0"/>
                    </a:moveTo>
                    <a:lnTo>
                      <a:pt x="1476351" y="0"/>
                    </a:lnTo>
                    <a:lnTo>
                      <a:pt x="1476351" y="900526"/>
                    </a:lnTo>
                    <a:lnTo>
                      <a:pt x="0" y="900526"/>
                    </a:lnTo>
                    <a:close/>
                  </a:path>
                </a:pathLst>
              </a:custGeom>
              <a:solidFill>
                <a:srgbClr val="393C4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161925"/>
                <a:ext cx="1476351" cy="1062451"/>
              </a:xfrm>
              <a:prstGeom prst="rect">
                <a:avLst/>
              </a:prstGeom>
            </p:spPr>
            <p:txBody>
              <a:bodyPr lIns="123349" tIns="123349" rIns="123349" bIns="123349" rtlCol="0" anchor="ctr"/>
              <a:lstStyle/>
              <a:p>
                <a:pPr marL="0" lvl="0" indent="0" algn="ctr">
                  <a:lnSpc>
                    <a:spcPts val="112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 rot="5400000">
              <a:off x="-22" y="12575798"/>
              <a:ext cx="11069639" cy="11069594"/>
              <a:chOff x="0" y="0"/>
              <a:chExt cx="6350000" cy="6349975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solidFill>
                <a:srgbClr val="393C40"/>
              </a:solidFill>
            </p:spPr>
          </p:sp>
        </p:grpSp>
      </p:grpSp>
      <p:sp>
        <p:nvSpPr>
          <p:cNvPr id="12" name="TextBox 12"/>
          <p:cNvSpPr txBox="1"/>
          <p:nvPr/>
        </p:nvSpPr>
        <p:spPr>
          <a:xfrm>
            <a:off x="666750" y="3771900"/>
            <a:ext cx="3810000" cy="1714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50"/>
              </a:lnSpc>
            </a:pPr>
            <a:r>
              <a:rPr lang="en-US" sz="9750" b="1">
                <a:solidFill>
                  <a:srgbClr val="B42318"/>
                </a:solidFill>
                <a:latin typeface="Arimo Bold"/>
                <a:ea typeface="Arimo Bold"/>
                <a:cs typeface="Arimo Bold"/>
                <a:sym typeface="Arimo Bold"/>
              </a:rPr>
              <a:t>3,924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6750" y="2990850"/>
            <a:ext cx="688657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57A55"/>
                </a:solidFill>
                <a:latin typeface="Arimo Bold"/>
                <a:ea typeface="Arimo Bold"/>
                <a:cs typeface="Arimo Bold"/>
                <a:sym typeface="Arimo Bold"/>
              </a:rPr>
              <a:t>When wholesale price falls below MSP</a:t>
            </a:r>
          </a:p>
        </p:txBody>
      </p:sp>
      <p:sp>
        <p:nvSpPr>
          <p:cNvPr id="14" name="Freeform 14"/>
          <p:cNvSpPr/>
          <p:nvPr/>
        </p:nvSpPr>
        <p:spPr>
          <a:xfrm>
            <a:off x="9029700" y="1207088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15" name="TextBox 15"/>
          <p:cNvSpPr txBox="1"/>
          <p:nvPr/>
        </p:nvSpPr>
        <p:spPr>
          <a:xfrm>
            <a:off x="14246984" y="513397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657067" y="4573874"/>
            <a:ext cx="14907864" cy="0"/>
          </a:xfrm>
          <a:prstGeom prst="line">
            <a:avLst/>
          </a:prstGeom>
          <a:ln w="19050" cap="flat">
            <a:solidFill>
              <a:srgbClr val="557A5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3333217" y="4411949"/>
            <a:ext cx="323850" cy="323850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93C40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7648042" y="4411949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93C40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11962867" y="4421474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393C40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6750" y="742950"/>
            <a:ext cx="15821025" cy="1077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  <a:spcBef>
                <a:spcPct val="0"/>
              </a:spcBef>
            </a:pPr>
            <a:r>
              <a:rPr lang="en-US" sz="7599" b="1" u="none" strike="noStrike" spc="-189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Logistics Intelligence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333217" y="2780881"/>
            <a:ext cx="2876550" cy="1052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b="1" u="none" strike="noStrike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Routes Monitored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33217" y="5297774"/>
            <a:ext cx="2867025" cy="2910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342 monitored routes. 8,455 valid transit trips. 539 invalid negative transit records excluded from calculations.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648042" y="2780881"/>
            <a:ext cx="2876550" cy="1052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b="1" u="none" strike="noStrike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Delay Methodology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648042" y="5297774"/>
            <a:ext cx="2867025" cy="2910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 route is flagged delayed when transit time exceeds 1.5x the average valid transit time for that Mandi to Warehouse route.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962867" y="3314281"/>
            <a:ext cx="2876550" cy="519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b="1" u="none" strike="noStrike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Delay Rate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962867" y="5297774"/>
            <a:ext cx="2867025" cy="2491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1,584 delayed trips. 18.68% transport delay rate. Identified delay patterns, not a claim of reduced delays.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727092" y="331470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557A55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742950"/>
            <a:ext cx="6886575" cy="2134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  <a:spcBef>
                <a:spcPct val="0"/>
              </a:spcBef>
            </a:pPr>
            <a:r>
              <a:rPr lang="en-US" sz="7599" b="1" u="none" strike="noStrike" spc="-189" dirty="0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Weather × Supply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6750" y="7886700"/>
            <a:ext cx="6886575" cy="1787366"/>
            <a:chOff x="0" y="0"/>
            <a:chExt cx="9182100" cy="2383154"/>
          </a:xfrm>
        </p:grpSpPr>
        <p:sp>
          <p:nvSpPr>
            <p:cNvPr id="4" name="TextBox 4"/>
            <p:cNvSpPr txBox="1"/>
            <p:nvPr/>
          </p:nvSpPr>
          <p:spPr>
            <a:xfrm>
              <a:off x="0" y="-38100"/>
              <a:ext cx="9182100" cy="566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Observed Relationship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749934"/>
              <a:ext cx="9182100" cy="163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Rainfall vs arrival volume, aggregated to daily grain before joining with arrivals, preventing many-to-many inflation. Not a causal claim.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397415" y="-12590561"/>
            <a:ext cx="15250896" cy="17734061"/>
            <a:chOff x="0" y="0"/>
            <a:chExt cx="20334528" cy="23645414"/>
          </a:xfrm>
        </p:grpSpPr>
        <p:grpSp>
          <p:nvGrpSpPr>
            <p:cNvPr id="7" name="Group 7"/>
            <p:cNvGrpSpPr/>
            <p:nvPr/>
          </p:nvGrpSpPr>
          <p:grpSpPr>
            <a:xfrm rot="7458190">
              <a:off x="1574682" y="5080128"/>
              <a:ext cx="18147848" cy="11069594"/>
              <a:chOff x="0" y="0"/>
              <a:chExt cx="1476351" cy="90052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76351" cy="900526"/>
              </a:xfrm>
              <a:custGeom>
                <a:avLst/>
                <a:gdLst/>
                <a:ahLst/>
                <a:cxnLst/>
                <a:rect l="l" t="t" r="r" b="b"/>
                <a:pathLst>
                  <a:path w="1476351" h="900526">
                    <a:moveTo>
                      <a:pt x="0" y="0"/>
                    </a:moveTo>
                    <a:lnTo>
                      <a:pt x="1476351" y="0"/>
                    </a:lnTo>
                    <a:lnTo>
                      <a:pt x="1476351" y="900526"/>
                    </a:lnTo>
                    <a:lnTo>
                      <a:pt x="0" y="900526"/>
                    </a:lnTo>
                    <a:close/>
                  </a:path>
                </a:pathLst>
              </a:custGeom>
              <a:solidFill>
                <a:srgbClr val="393C4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161925"/>
                <a:ext cx="1476351" cy="1062451"/>
              </a:xfrm>
              <a:prstGeom prst="rect">
                <a:avLst/>
              </a:prstGeom>
            </p:spPr>
            <p:txBody>
              <a:bodyPr lIns="123349" tIns="123349" rIns="123349" bIns="123349" rtlCol="0" anchor="ctr"/>
              <a:lstStyle/>
              <a:p>
                <a:pPr marL="0" lvl="0" indent="0" algn="ctr">
                  <a:lnSpc>
                    <a:spcPts val="112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 rot="5400000">
              <a:off x="-22" y="12575798"/>
              <a:ext cx="11069639" cy="11069594"/>
              <a:chOff x="0" y="0"/>
              <a:chExt cx="6350000" cy="6349975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solidFill>
                <a:srgbClr val="393C40"/>
              </a:solidFill>
            </p:spPr>
          </p:sp>
        </p:grpSp>
      </p:grpSp>
      <p:sp>
        <p:nvSpPr>
          <p:cNvPr id="12" name="TextBox 12"/>
          <p:cNvSpPr txBox="1"/>
          <p:nvPr/>
        </p:nvSpPr>
        <p:spPr>
          <a:xfrm>
            <a:off x="666750" y="3648230"/>
            <a:ext cx="14181158" cy="1720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59"/>
              </a:lnSpc>
            </a:pPr>
            <a:r>
              <a:rPr lang="en-US" sz="247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CURRENT DASHBOARD VIEW</a:t>
            </a:r>
          </a:p>
          <a:p>
            <a:pPr algn="l">
              <a:lnSpc>
                <a:spcPts val="3459"/>
              </a:lnSpc>
            </a:pPr>
            <a:r>
              <a:rPr lang="en-US" sz="247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52 weather-matched arrival days</a:t>
            </a:r>
          </a:p>
          <a:p>
            <a:pPr algn="l">
              <a:lnSpc>
                <a:spcPts val="3459"/>
              </a:lnSpc>
            </a:pPr>
            <a:r>
              <a:rPr lang="en-US" sz="247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3,276 unmatched days retained with NULL weather metrics</a:t>
            </a:r>
          </a:p>
          <a:p>
            <a:pPr algn="l">
              <a:lnSpc>
                <a:spcPts val="3459"/>
              </a:lnSpc>
            </a:pPr>
            <a:r>
              <a:rPr lang="en-US" sz="247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(filtered view — not a global project total)</a:t>
            </a:r>
          </a:p>
        </p:txBody>
      </p:sp>
      <p:sp>
        <p:nvSpPr>
          <p:cNvPr id="13" name="Freeform 13"/>
          <p:cNvSpPr/>
          <p:nvPr/>
        </p:nvSpPr>
        <p:spPr>
          <a:xfrm>
            <a:off x="9144000" y="1253875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14" name="TextBox 14"/>
          <p:cNvSpPr txBox="1"/>
          <p:nvPr/>
        </p:nvSpPr>
        <p:spPr>
          <a:xfrm>
            <a:off x="14246984" y="513397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2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91600" y="187314"/>
            <a:ext cx="9144000" cy="4646488"/>
            <a:chOff x="0" y="0"/>
            <a:chExt cx="1361119" cy="6916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61119" cy="691647"/>
            </a:xfrm>
            <a:custGeom>
              <a:avLst/>
              <a:gdLst/>
              <a:ahLst/>
              <a:cxnLst/>
              <a:rect l="l" t="t" r="r" b="b"/>
              <a:pathLst>
                <a:path w="1361119" h="691647">
                  <a:moveTo>
                    <a:pt x="29633" y="0"/>
                  </a:moveTo>
                  <a:lnTo>
                    <a:pt x="1331485" y="0"/>
                  </a:lnTo>
                  <a:cubicBezTo>
                    <a:pt x="1339345" y="0"/>
                    <a:pt x="1346882" y="3122"/>
                    <a:pt x="1352439" y="8679"/>
                  </a:cubicBezTo>
                  <a:cubicBezTo>
                    <a:pt x="1357996" y="14237"/>
                    <a:pt x="1361119" y="21774"/>
                    <a:pt x="1361119" y="29633"/>
                  </a:cubicBezTo>
                  <a:lnTo>
                    <a:pt x="1361119" y="662014"/>
                  </a:lnTo>
                  <a:cubicBezTo>
                    <a:pt x="1361119" y="669873"/>
                    <a:pt x="1357996" y="677410"/>
                    <a:pt x="1352439" y="682968"/>
                  </a:cubicBezTo>
                  <a:cubicBezTo>
                    <a:pt x="1346882" y="688525"/>
                    <a:pt x="1339345" y="691647"/>
                    <a:pt x="1331485" y="691647"/>
                  </a:cubicBezTo>
                  <a:lnTo>
                    <a:pt x="29633" y="691647"/>
                  </a:lnTo>
                  <a:cubicBezTo>
                    <a:pt x="21774" y="691647"/>
                    <a:pt x="14237" y="688525"/>
                    <a:pt x="8679" y="682968"/>
                  </a:cubicBezTo>
                  <a:cubicBezTo>
                    <a:pt x="3122" y="677410"/>
                    <a:pt x="0" y="669873"/>
                    <a:pt x="0" y="662014"/>
                  </a:cubicBezTo>
                  <a:lnTo>
                    <a:pt x="0" y="29633"/>
                  </a:lnTo>
                  <a:cubicBezTo>
                    <a:pt x="0" y="21774"/>
                    <a:pt x="3122" y="14237"/>
                    <a:pt x="8679" y="8679"/>
                  </a:cubicBezTo>
                  <a:cubicBezTo>
                    <a:pt x="14237" y="3122"/>
                    <a:pt x="21774" y="0"/>
                    <a:pt x="29633" y="0"/>
                  </a:cubicBezTo>
                  <a:close/>
                </a:path>
              </a:pathLst>
            </a:custGeom>
            <a:blipFill>
              <a:blip r:embed="rId2"/>
              <a:stretch>
                <a:fillRect t="-92" b="-92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id="4" name="Freeform 4"/>
          <p:cNvSpPr/>
          <p:nvPr/>
        </p:nvSpPr>
        <p:spPr>
          <a:xfrm>
            <a:off x="8991600" y="5143500"/>
            <a:ext cx="9132342" cy="4628956"/>
          </a:xfrm>
          <a:custGeom>
            <a:avLst/>
            <a:gdLst/>
            <a:ahLst/>
            <a:cxnLst/>
            <a:rect l="l" t="t" r="r" b="b"/>
            <a:pathLst>
              <a:path w="9132342" h="4628956">
                <a:moveTo>
                  <a:pt x="0" y="0"/>
                </a:moveTo>
                <a:lnTo>
                  <a:pt x="9132342" y="0"/>
                </a:lnTo>
                <a:lnTo>
                  <a:pt x="9132342" y="4628956"/>
                </a:lnTo>
                <a:lnTo>
                  <a:pt x="0" y="46289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w="38100" cap="rnd">
            <a:solidFill>
              <a:srgbClr val="000000"/>
            </a:solidFill>
            <a:prstDash val="solid"/>
            <a:round/>
          </a:ln>
        </p:spPr>
      </p:sp>
      <p:grpSp>
        <p:nvGrpSpPr>
          <p:cNvPr id="5" name="Group 5"/>
          <p:cNvGrpSpPr/>
          <p:nvPr/>
        </p:nvGrpSpPr>
        <p:grpSpPr>
          <a:xfrm>
            <a:off x="666750" y="666750"/>
            <a:ext cx="8324850" cy="5081746"/>
            <a:chOff x="0" y="0"/>
            <a:chExt cx="11099800" cy="6775662"/>
          </a:xfrm>
        </p:grpSpPr>
        <p:sp>
          <p:nvSpPr>
            <p:cNvPr id="6" name="TextBox 6"/>
            <p:cNvSpPr txBox="1"/>
            <p:nvPr/>
          </p:nvSpPr>
          <p:spPr>
            <a:xfrm>
              <a:off x="0" y="76200"/>
              <a:ext cx="11099800" cy="28718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359"/>
                </a:lnSpc>
              </a:pPr>
              <a:r>
                <a:rPr lang="en-US" sz="7599" b="1" spc="-189">
                  <a:solidFill>
                    <a:srgbClr val="393C40"/>
                  </a:solidFill>
                  <a:latin typeface="Garet Bold"/>
                  <a:ea typeface="Garet Bold"/>
                  <a:cs typeface="Garet Bold"/>
                  <a:sym typeface="Garet Bold"/>
                </a:rPr>
                <a:t>Executive Dashboard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295650"/>
              <a:ext cx="11099800" cy="673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 b="1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One Screen for Mandi to Market Intelligence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4171738"/>
              <a:ext cx="11099800" cy="26039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</a:pPr>
              <a:r>
                <a:rPr lang="en-US" sz="2799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This dashboard provides a comprehensive overview of critical agricultural data, integrating supply, pricing, logistics, and weather information for informed decision-making across the supply chain.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66750" y="6229350"/>
            <a:ext cx="8324850" cy="391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Interactive Streamlit dashboard for supply-chain intelligence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6045" y="331470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557A55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742950"/>
            <a:ext cx="6886575" cy="2134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  <a:spcBef>
                <a:spcPct val="0"/>
              </a:spcBef>
            </a:pPr>
            <a:r>
              <a:rPr lang="en-US" sz="7599" b="1" u="none" strike="noStrike" spc="-189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AI Query Agent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6750" y="7429500"/>
            <a:ext cx="6886575" cy="2244566"/>
            <a:chOff x="0" y="0"/>
            <a:chExt cx="9182100" cy="2992754"/>
          </a:xfrm>
        </p:grpSpPr>
        <p:sp>
          <p:nvSpPr>
            <p:cNvPr id="4" name="TextBox 4"/>
            <p:cNvSpPr txBox="1"/>
            <p:nvPr/>
          </p:nvSpPr>
          <p:spPr>
            <a:xfrm>
              <a:off x="0" y="-38100"/>
              <a:ext cx="9182100" cy="11760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Ask the Data Instead of Searching Through Charts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359534"/>
              <a:ext cx="9182100" cy="16332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Ask questions about the supply chain data in plain English. The agent converts your query into SQL and generates charts automatically.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296400" y="-8101220"/>
            <a:ext cx="15250896" cy="17734061"/>
            <a:chOff x="0" y="0"/>
            <a:chExt cx="20334528" cy="23645414"/>
          </a:xfrm>
        </p:grpSpPr>
        <p:grpSp>
          <p:nvGrpSpPr>
            <p:cNvPr id="7" name="Group 7"/>
            <p:cNvGrpSpPr/>
            <p:nvPr/>
          </p:nvGrpSpPr>
          <p:grpSpPr>
            <a:xfrm rot="7458190">
              <a:off x="1574682" y="5080128"/>
              <a:ext cx="18147848" cy="11069594"/>
              <a:chOff x="0" y="0"/>
              <a:chExt cx="1476351" cy="90052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76351" cy="900526"/>
              </a:xfrm>
              <a:custGeom>
                <a:avLst/>
                <a:gdLst/>
                <a:ahLst/>
                <a:cxnLst/>
                <a:rect l="l" t="t" r="r" b="b"/>
                <a:pathLst>
                  <a:path w="1476351" h="900526">
                    <a:moveTo>
                      <a:pt x="0" y="0"/>
                    </a:moveTo>
                    <a:lnTo>
                      <a:pt x="1476351" y="0"/>
                    </a:lnTo>
                    <a:lnTo>
                      <a:pt x="1476351" y="900526"/>
                    </a:lnTo>
                    <a:lnTo>
                      <a:pt x="0" y="900526"/>
                    </a:lnTo>
                    <a:close/>
                  </a:path>
                </a:pathLst>
              </a:custGeom>
              <a:solidFill>
                <a:srgbClr val="393C4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161925"/>
                <a:ext cx="1476351" cy="1062451"/>
              </a:xfrm>
              <a:prstGeom prst="rect">
                <a:avLst/>
              </a:prstGeom>
            </p:spPr>
            <p:txBody>
              <a:bodyPr lIns="123349" tIns="123349" rIns="123349" bIns="123349" rtlCol="0" anchor="ctr"/>
              <a:lstStyle/>
              <a:p>
                <a:pPr marL="0" lvl="0" indent="0" algn="ctr">
                  <a:lnSpc>
                    <a:spcPts val="112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 rot="5400000">
              <a:off x="-22" y="12575798"/>
              <a:ext cx="11069639" cy="11069594"/>
              <a:chOff x="0" y="0"/>
              <a:chExt cx="6350000" cy="6349975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solidFill>
                <a:srgbClr val="393C40"/>
              </a:solidFill>
            </p:spPr>
          </p:sp>
        </p:grpSp>
        <p:grpSp>
          <p:nvGrpSpPr>
            <p:cNvPr id="12" name="Group 12"/>
            <p:cNvGrpSpPr/>
            <p:nvPr/>
          </p:nvGrpSpPr>
          <p:grpSpPr>
            <a:xfrm>
              <a:off x="943747" y="13519545"/>
              <a:ext cx="9182100" cy="9182100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/>
                </a:stretch>
              </a:blipFill>
            </p:spPr>
          </p:sp>
        </p:grpSp>
      </p:grpSp>
      <p:sp>
        <p:nvSpPr>
          <p:cNvPr id="14" name="TextBox 14"/>
          <p:cNvSpPr txBox="1"/>
          <p:nvPr/>
        </p:nvSpPr>
        <p:spPr>
          <a:xfrm>
            <a:off x="666750" y="3095703"/>
            <a:ext cx="8575359" cy="522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1"/>
              </a:lnSpc>
            </a:pPr>
            <a:r>
              <a:rPr lang="en-US" sz="149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USER QUESTION → AI QUERY AGENT → ANALYTICAL QUERY → DATA-BACKED RESULT → CHART + TEXT SUMMARY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66750" y="3797507"/>
            <a:ext cx="8056729" cy="294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6"/>
              </a:lnSpc>
            </a:pPr>
            <a:r>
              <a:rPr lang="en-US" sz="280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EXAMPLE QUESTIONS</a:t>
            </a:r>
          </a:p>
          <a:p>
            <a:pPr algn="l">
              <a:lnSpc>
                <a:spcPts val="3926"/>
              </a:lnSpc>
            </a:pPr>
            <a:r>
              <a:rPr lang="en-US" sz="280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Show Wheat arrivals in Amritsar mandi.</a:t>
            </a:r>
          </a:p>
          <a:p>
            <a:pPr algn="l">
              <a:lnSpc>
                <a:spcPts val="3926"/>
              </a:lnSpc>
            </a:pPr>
            <a:r>
              <a:rPr lang="en-US" sz="280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Which mandis have prices below MSP?</a:t>
            </a:r>
          </a:p>
          <a:p>
            <a:pPr algn="l">
              <a:lnSpc>
                <a:spcPts val="3926"/>
              </a:lnSpc>
            </a:pPr>
            <a:r>
              <a:rPr lang="en-US" sz="280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What is the highest average transit delay?</a:t>
            </a:r>
          </a:p>
          <a:p>
            <a:pPr algn="l">
              <a:lnSpc>
                <a:spcPts val="3926"/>
              </a:lnSpc>
            </a:pPr>
            <a:r>
              <a:rPr lang="en-US" sz="280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Show rainfall by district.</a:t>
            </a:r>
          </a:p>
          <a:p>
            <a:pPr algn="l">
              <a:lnSpc>
                <a:spcPts val="3926"/>
              </a:lnSpc>
            </a:pPr>
            <a:r>
              <a:rPr lang="en-US" sz="280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What are the highest-volume warehouses?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246984" y="513397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742950"/>
            <a:ext cx="8629650" cy="2134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</a:pPr>
            <a:r>
              <a:rPr lang="en-US" sz="7599" b="1" spc="-189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Technical Architecture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2172950" y="7834312"/>
            <a:ext cx="5448300" cy="1765935"/>
            <a:chOff x="0" y="0"/>
            <a:chExt cx="7264400" cy="2354580"/>
          </a:xfrm>
        </p:grpSpPr>
        <p:sp>
          <p:nvSpPr>
            <p:cNvPr id="4" name="TextBox 4"/>
            <p:cNvSpPr txBox="1"/>
            <p:nvPr/>
          </p:nvSpPr>
          <p:spPr>
            <a:xfrm>
              <a:off x="0" y="-38100"/>
              <a:ext cx="7264400" cy="566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Technology Stack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744855"/>
              <a:ext cx="7264400" cy="1609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49"/>
                </a:lnSpc>
                <a:spcBef>
                  <a:spcPct val="0"/>
                </a:spcBef>
              </a:pPr>
              <a:r>
                <a:rPr lang="en-US" sz="225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Built using Python, SQLite, and Streamlit, the </a:t>
              </a:r>
              <a:r>
                <a:rPr lang="en-US" sz="2250" b="1" u="none" strike="noStrike">
                  <a:solidFill>
                    <a:srgbClr val="393C4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technology stack</a:t>
              </a:r>
              <a:r>
                <a:rPr lang="en-US" sz="225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supports robust data handling and visualization capabilities.</a:t>
              </a: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734675" y="7806690"/>
            <a:ext cx="585578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1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03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2172950" y="5148262"/>
            <a:ext cx="5448300" cy="2165985"/>
            <a:chOff x="0" y="0"/>
            <a:chExt cx="7264400" cy="2887980"/>
          </a:xfrm>
        </p:grpSpPr>
        <p:sp>
          <p:nvSpPr>
            <p:cNvPr id="8" name="TextBox 8"/>
            <p:cNvSpPr txBox="1"/>
            <p:nvPr/>
          </p:nvSpPr>
          <p:spPr>
            <a:xfrm>
              <a:off x="0" y="-38100"/>
              <a:ext cx="7264400" cy="566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Reproducibility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44855"/>
              <a:ext cx="7264400" cy="2143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49"/>
                </a:lnSpc>
                <a:spcBef>
                  <a:spcPct val="0"/>
                </a:spcBef>
              </a:pPr>
              <a:r>
                <a:rPr lang="en-US" sz="225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The architecture ensures </a:t>
              </a:r>
              <a:r>
                <a:rPr lang="en-US" sz="2250" b="1" u="none" strike="noStrike">
                  <a:solidFill>
                    <a:srgbClr val="393C4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reproducibility</a:t>
              </a:r>
              <a:r>
                <a:rPr lang="en-US" sz="225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, allowing for consistent data cleaning and analytical processing through well-defined Python scripts.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734675" y="5120640"/>
            <a:ext cx="585578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1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02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2172950" y="2457450"/>
            <a:ext cx="5448300" cy="1765935"/>
            <a:chOff x="0" y="0"/>
            <a:chExt cx="7264400" cy="2354580"/>
          </a:xfrm>
        </p:grpSpPr>
        <p:sp>
          <p:nvSpPr>
            <p:cNvPr id="12" name="TextBox 12"/>
            <p:cNvSpPr txBox="1"/>
            <p:nvPr/>
          </p:nvSpPr>
          <p:spPr>
            <a:xfrm>
              <a:off x="0" y="744855"/>
              <a:ext cx="7264400" cy="1609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49"/>
                </a:lnSpc>
              </a:pPr>
              <a:r>
                <a:rPr lang="en-US" sz="2250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 streamlined </a:t>
              </a:r>
              <a:r>
                <a:rPr lang="en-US" sz="2250" b="1">
                  <a:solidFill>
                    <a:srgbClr val="393C4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data pipeline</a:t>
              </a:r>
              <a:r>
                <a:rPr lang="en-US" sz="2250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efficiently connects raw datasets to a clean analytics database for effective decision-making.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7264400" cy="566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Data Pipeline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734675" y="2434590"/>
            <a:ext cx="585578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1">
                <a:solidFill>
                  <a:srgbClr val="557A5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66750" y="3142479"/>
            <a:ext cx="4939398" cy="6687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Raw Datasets</a:t>
            </a:r>
          </a:p>
          <a:p>
            <a:pPr algn="just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          ↓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Data Cleaning Pipeline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          ↓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Clean Dataset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          ↓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SQLite Analytics Database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          ↓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Validated SQL Views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          ↓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Streamlit Dashboard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          ↓</a:t>
            </a:r>
          </a:p>
          <a:p>
            <a:pPr algn="l">
              <a:lnSpc>
                <a:spcPts val="4124"/>
              </a:lnSpc>
            </a:pPr>
            <a:r>
              <a:rPr lang="en-US" sz="2946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AI Query Agent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727092" y="331470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557A55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058190">
            <a:off x="-8315153" y="-2517302"/>
            <a:ext cx="13610886" cy="8302196"/>
            <a:chOff x="0" y="0"/>
            <a:chExt cx="1476351" cy="90052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76351" cy="900526"/>
            </a:xfrm>
            <a:custGeom>
              <a:avLst/>
              <a:gdLst/>
              <a:ahLst/>
              <a:cxnLst/>
              <a:rect l="l" t="t" r="r" b="b"/>
              <a:pathLst>
                <a:path w="1476351" h="900526">
                  <a:moveTo>
                    <a:pt x="0" y="0"/>
                  </a:moveTo>
                  <a:lnTo>
                    <a:pt x="1476351" y="0"/>
                  </a:lnTo>
                  <a:lnTo>
                    <a:pt x="1476351" y="900526"/>
                  </a:lnTo>
                  <a:lnTo>
                    <a:pt x="0" y="900526"/>
                  </a:lnTo>
                  <a:close/>
                </a:path>
              </a:pathLst>
            </a:custGeom>
            <a:solidFill>
              <a:srgbClr val="393C40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161925"/>
              <a:ext cx="1476351" cy="1062451"/>
            </a:xfrm>
            <a:prstGeom prst="rect">
              <a:avLst/>
            </a:prstGeom>
          </p:spPr>
          <p:txBody>
            <a:bodyPr lIns="123349" tIns="123349" rIns="123349" bIns="123349" rtlCol="0" anchor="ctr"/>
            <a:lstStyle/>
            <a:p>
              <a:pPr marL="0" lvl="0" indent="0" algn="ctr">
                <a:lnSpc>
                  <a:spcPts val="112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296400" y="666750"/>
            <a:ext cx="7191375" cy="10958830"/>
            <a:chOff x="0" y="0"/>
            <a:chExt cx="9588500" cy="14611774"/>
          </a:xfrm>
        </p:grpSpPr>
        <p:sp>
          <p:nvSpPr>
            <p:cNvPr id="6" name="TextBox 6"/>
            <p:cNvSpPr txBox="1"/>
            <p:nvPr/>
          </p:nvSpPr>
          <p:spPr>
            <a:xfrm>
              <a:off x="0" y="57150"/>
              <a:ext cx="9588500" cy="227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6600"/>
                </a:lnSpc>
                <a:spcBef>
                  <a:spcPct val="0"/>
                </a:spcBef>
              </a:pPr>
              <a:r>
                <a:rPr lang="en-US" sz="6000" b="1" u="none" strike="noStrike" spc="-150">
                  <a:solidFill>
                    <a:srgbClr val="393C40"/>
                  </a:solidFill>
                  <a:latin typeface="Garet Bold"/>
                  <a:ea typeface="Garet Bold"/>
                  <a:cs typeface="Garet Bold"/>
                  <a:sym typeface="Garet Bold"/>
                </a:rPr>
                <a:t>Validation &amp; Reproducibility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5403850"/>
              <a:ext cx="9588500" cy="92079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✓ Cleaned row counts reconciled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✓ Duplicate handling verified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✓ Arrival totals reconciled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✓ Weather join checked for many-to-many inflation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✓ Price crash condition manually validated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✓ Invalid transit records excluded from valid calculations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✓ Route delay methodology validated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✓ Analytical views tested against source data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endParaRPr lang="en-US" sz="2799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endParaRP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Raw data remains untouched. Cleaning and analytics are reproducible through Python scripts.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39072" y="1318054"/>
            <a:ext cx="8302229" cy="8302196"/>
            <a:chOff x="0" y="0"/>
            <a:chExt cx="11069639" cy="1106959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0" y="0"/>
              <a:ext cx="11069639" cy="11069594"/>
              <a:chOff x="0" y="0"/>
              <a:chExt cx="6350000" cy="634997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solidFill>
                <a:srgbClr val="393C40"/>
              </a:solid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943769" y="943747"/>
              <a:ext cx="9182100" cy="9182100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/>
                </a:stretch>
              </a:blipFill>
            </p:spPr>
          </p:sp>
        </p:grpSp>
      </p:grpSp>
      <p:sp>
        <p:nvSpPr>
          <p:cNvPr id="13" name="TextBox 13"/>
          <p:cNvSpPr txBox="1"/>
          <p:nvPr/>
        </p:nvSpPr>
        <p:spPr>
          <a:xfrm>
            <a:off x="9296400" y="4143375"/>
            <a:ext cx="476250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557A55"/>
                </a:solidFill>
                <a:latin typeface="Arimo Bold"/>
                <a:ea typeface="Arimo Bold"/>
                <a:cs typeface="Arimo Bold"/>
                <a:sym typeface="Arimo Bold"/>
              </a:rPr>
              <a:t>DATA QA / VALIDATED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727092" y="331470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557A55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742950"/>
            <a:ext cx="6886575" cy="2134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59"/>
              </a:lnSpc>
            </a:pPr>
            <a:r>
              <a:rPr lang="en-US" sz="7599" b="1" spc="-189">
                <a:solidFill>
                  <a:srgbClr val="393C40"/>
                </a:solidFill>
                <a:latin typeface="Garet Bold"/>
                <a:ea typeface="Garet Bold"/>
                <a:cs typeface="Garet Bold"/>
                <a:sym typeface="Garet Bold"/>
              </a:rPr>
              <a:t>Decision Intelligence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66750" y="3385180"/>
            <a:ext cx="6886575" cy="4956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r>
              <a:rPr lang="en-US" sz="2473" b="1" u="none" strike="noStrike">
                <a:solidFill>
                  <a:srgbClr val="393C4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SUPPLY </a:t>
            </a:r>
            <a:r>
              <a:rPr lang="en-US" sz="2473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Where are arrivals concentrated?</a:t>
            </a:r>
          </a:p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endParaRPr lang="en-US" sz="2473" u="none" strike="noStrike">
              <a:solidFill>
                <a:srgbClr val="393C4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r>
              <a:rPr lang="en-US" sz="2473" b="1" u="none" strike="noStrike">
                <a:solidFill>
                  <a:srgbClr val="393C4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PRICE</a:t>
            </a:r>
            <a:r>
              <a:rPr lang="en-US" sz="2473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— Where is modal price below MSP?</a:t>
            </a:r>
          </a:p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endParaRPr lang="en-US" sz="2473" u="none" strike="noStrike">
              <a:solidFill>
                <a:srgbClr val="393C4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r>
              <a:rPr lang="en-US" sz="2473" b="1" u="none" strike="noStrike">
                <a:solidFill>
                  <a:srgbClr val="393C4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LOGISTICS</a:t>
            </a:r>
            <a:r>
              <a:rPr lang="en-US" sz="2473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— Which routes show higher delay frequency?</a:t>
            </a:r>
          </a:p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endParaRPr lang="en-US" sz="2473" u="none" strike="noStrike">
              <a:solidFill>
                <a:srgbClr val="393C4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r>
              <a:rPr lang="en-US" sz="2473" b="1" u="none" strike="noStrike">
                <a:solidFill>
                  <a:srgbClr val="393C4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WEATHER</a:t>
            </a:r>
            <a:r>
              <a:rPr lang="en-US" sz="2473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— Where do rainfall patterns coincide with supply changes?</a:t>
            </a:r>
          </a:p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endParaRPr lang="en-US" sz="2473" u="none" strike="noStrike">
              <a:solidFill>
                <a:srgbClr val="393C4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marL="0" lvl="0" indent="0" algn="l">
              <a:lnSpc>
                <a:spcPts val="3462"/>
              </a:lnSpc>
              <a:spcBef>
                <a:spcPct val="0"/>
              </a:spcBef>
            </a:pPr>
            <a:r>
              <a:rPr lang="en-US" sz="2473" b="1" u="none" strike="noStrike">
                <a:solidFill>
                  <a:srgbClr val="393C4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MARKET SIGNALS</a:t>
            </a:r>
            <a:r>
              <a:rPr lang="en-US" sz="2473" u="none" strike="noStrike">
                <a:solidFill>
                  <a:srgbClr val="393C4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— What requires attention?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296400" y="-8101220"/>
            <a:ext cx="15250896" cy="17734061"/>
            <a:chOff x="0" y="0"/>
            <a:chExt cx="20334528" cy="23645414"/>
          </a:xfrm>
        </p:grpSpPr>
        <p:grpSp>
          <p:nvGrpSpPr>
            <p:cNvPr id="5" name="Group 5"/>
            <p:cNvGrpSpPr/>
            <p:nvPr/>
          </p:nvGrpSpPr>
          <p:grpSpPr>
            <a:xfrm rot="7458190">
              <a:off x="1574682" y="5080128"/>
              <a:ext cx="18147848" cy="11069594"/>
              <a:chOff x="0" y="0"/>
              <a:chExt cx="1476351" cy="900526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76351" cy="900526"/>
              </a:xfrm>
              <a:custGeom>
                <a:avLst/>
                <a:gdLst/>
                <a:ahLst/>
                <a:cxnLst/>
                <a:rect l="l" t="t" r="r" b="b"/>
                <a:pathLst>
                  <a:path w="1476351" h="900526">
                    <a:moveTo>
                      <a:pt x="0" y="0"/>
                    </a:moveTo>
                    <a:lnTo>
                      <a:pt x="1476351" y="0"/>
                    </a:lnTo>
                    <a:lnTo>
                      <a:pt x="1476351" y="900526"/>
                    </a:lnTo>
                    <a:lnTo>
                      <a:pt x="0" y="900526"/>
                    </a:lnTo>
                    <a:close/>
                  </a:path>
                </a:pathLst>
              </a:custGeom>
              <a:solidFill>
                <a:srgbClr val="393C4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161925"/>
                <a:ext cx="1476351" cy="1062451"/>
              </a:xfrm>
              <a:prstGeom prst="rect">
                <a:avLst/>
              </a:prstGeom>
            </p:spPr>
            <p:txBody>
              <a:bodyPr lIns="123349" tIns="123349" rIns="123349" bIns="123349" rtlCol="0" anchor="ctr"/>
              <a:lstStyle/>
              <a:p>
                <a:pPr marL="0" lvl="0" indent="0" algn="ctr">
                  <a:lnSpc>
                    <a:spcPts val="112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 rot="5400000">
              <a:off x="-22" y="12575798"/>
              <a:ext cx="11069639" cy="11069594"/>
              <a:chOff x="0" y="0"/>
              <a:chExt cx="6350000" cy="634997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solidFill>
                <a:srgbClr val="393C40"/>
              </a:solidFill>
            </p:spPr>
          </p:sp>
        </p:grpSp>
        <p:grpSp>
          <p:nvGrpSpPr>
            <p:cNvPr id="10" name="Group 10"/>
            <p:cNvGrpSpPr/>
            <p:nvPr/>
          </p:nvGrpSpPr>
          <p:grpSpPr>
            <a:xfrm>
              <a:off x="943747" y="13519545"/>
              <a:ext cx="9182100" cy="9182100"/>
              <a:chOff x="0" y="0"/>
              <a:chExt cx="812800" cy="8128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/>
                </a:stretch>
              </a:blipFill>
            </p:spPr>
          </p:sp>
        </p:grpSp>
      </p:grpSp>
      <p:sp>
        <p:nvSpPr>
          <p:cNvPr id="12" name="TextBox 12"/>
          <p:cNvSpPr txBox="1"/>
          <p:nvPr/>
        </p:nvSpPr>
        <p:spPr>
          <a:xfrm>
            <a:off x="14246984" y="513397"/>
            <a:ext cx="4041016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96400" y="6990404"/>
            <a:ext cx="7191375" cy="1990248"/>
            <a:chOff x="0" y="0"/>
            <a:chExt cx="9588500" cy="2653664"/>
          </a:xfrm>
        </p:grpSpPr>
        <p:sp>
          <p:nvSpPr>
            <p:cNvPr id="3" name="TextBox 3"/>
            <p:cNvSpPr txBox="1"/>
            <p:nvPr/>
          </p:nvSpPr>
          <p:spPr>
            <a:xfrm>
              <a:off x="0" y="-38100"/>
              <a:ext cx="9588500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GitHub: </a:t>
              </a:r>
              <a:r>
                <a:rPr lang="en-US" sz="2400" u="sng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  <a:hlinkClick r:id="rId2" tooltip="https://github.com/httpsankuu/agriTech"/>
                </a:rPr>
                <a:t>github.com/httpsankuu/agriTech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770572"/>
              <a:ext cx="9588500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Live Dashboard: </a:t>
              </a:r>
              <a:r>
                <a:rPr lang="en-US" sz="2400" u="sng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  <a:hlinkClick r:id="rId3" tooltip="https://agritech-byankith.streamlit.app"/>
                </a:rPr>
                <a:t>agritech-byankith.streamlit.app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579244"/>
              <a:ext cx="9588500" cy="1074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en-US" sz="2400" u="none" strike="noStrike">
                  <a:solidFill>
                    <a:srgbClr val="393C4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Python · Pandas · SQLite · SQL · Streamlit · Plotly · Custom CSS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296400" y="674684"/>
            <a:ext cx="7191375" cy="1781183"/>
            <a:chOff x="0" y="0"/>
            <a:chExt cx="9588500" cy="2374910"/>
          </a:xfrm>
        </p:grpSpPr>
        <p:sp>
          <p:nvSpPr>
            <p:cNvPr id="7" name="TextBox 7"/>
            <p:cNvSpPr txBox="1"/>
            <p:nvPr/>
          </p:nvSpPr>
          <p:spPr>
            <a:xfrm>
              <a:off x="0" y="76200"/>
              <a:ext cx="9588500" cy="14622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360"/>
                </a:lnSpc>
              </a:pPr>
              <a:r>
                <a:rPr lang="en-US" sz="7600" b="1" spc="-190">
                  <a:solidFill>
                    <a:srgbClr val="393C40"/>
                  </a:solidFill>
                  <a:latin typeface="Garet Bold"/>
                  <a:ea typeface="Garet Bold"/>
                  <a:cs typeface="Garet Bold"/>
                  <a:sym typeface="Garet Bold"/>
                </a:rPr>
                <a:t>Conclusion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1825000"/>
              <a:ext cx="9588500" cy="5499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20"/>
                </a:lnSpc>
              </a:pPr>
              <a:r>
                <a:rPr lang="en-US" sz="2400" b="1">
                  <a:solidFill>
                    <a:srgbClr val="557A55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AGRITECH INTELLIGENCE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9470904" y="-5630646"/>
            <a:ext cx="17734061" cy="15250896"/>
            <a:chOff x="0" y="0"/>
            <a:chExt cx="23645414" cy="20334528"/>
          </a:xfrm>
        </p:grpSpPr>
        <p:grpSp>
          <p:nvGrpSpPr>
            <p:cNvPr id="10" name="Group 10"/>
            <p:cNvGrpSpPr/>
            <p:nvPr/>
          </p:nvGrpSpPr>
          <p:grpSpPr>
            <a:xfrm rot="2058190">
              <a:off x="1541001" y="4151125"/>
              <a:ext cx="18147848" cy="11069594"/>
              <a:chOff x="0" y="0"/>
              <a:chExt cx="1476351" cy="900526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76351" cy="900526"/>
              </a:xfrm>
              <a:custGeom>
                <a:avLst/>
                <a:gdLst/>
                <a:ahLst/>
                <a:cxnLst/>
                <a:rect l="l" t="t" r="r" b="b"/>
                <a:pathLst>
                  <a:path w="1476351" h="900526">
                    <a:moveTo>
                      <a:pt x="0" y="0"/>
                    </a:moveTo>
                    <a:lnTo>
                      <a:pt x="1476351" y="0"/>
                    </a:lnTo>
                    <a:lnTo>
                      <a:pt x="1476351" y="900526"/>
                    </a:lnTo>
                    <a:lnTo>
                      <a:pt x="0" y="900526"/>
                    </a:lnTo>
                    <a:close/>
                  </a:path>
                </a:pathLst>
              </a:custGeom>
              <a:solidFill>
                <a:srgbClr val="393C4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0" y="-161925"/>
                <a:ext cx="1476351" cy="1062451"/>
              </a:xfrm>
              <a:prstGeom prst="rect">
                <a:avLst/>
              </a:prstGeom>
            </p:spPr>
            <p:txBody>
              <a:bodyPr lIns="123349" tIns="123349" rIns="123349" bIns="123349" rtlCol="0" anchor="ctr"/>
              <a:lstStyle/>
              <a:p>
                <a:pPr marL="0" lvl="0" indent="0" algn="ctr">
                  <a:lnSpc>
                    <a:spcPts val="112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2575776" y="9264934"/>
              <a:ext cx="11069639" cy="11069594"/>
              <a:chOff x="0" y="0"/>
              <a:chExt cx="6350000" cy="6349975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solidFill>
                <a:srgbClr val="393C40"/>
              </a:solidFill>
            </p:spPr>
          </p:sp>
        </p:grpSp>
        <p:grpSp>
          <p:nvGrpSpPr>
            <p:cNvPr id="15" name="Group 15"/>
            <p:cNvGrpSpPr/>
            <p:nvPr/>
          </p:nvGrpSpPr>
          <p:grpSpPr>
            <a:xfrm>
              <a:off x="13519545" y="10208681"/>
              <a:ext cx="9182100" cy="9182100"/>
              <a:chOff x="0" y="0"/>
              <a:chExt cx="812800" cy="8128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</p:sp>
        </p:grpSp>
      </p:grpSp>
      <p:sp>
        <p:nvSpPr>
          <p:cNvPr id="17" name="TextBox 17"/>
          <p:cNvSpPr txBox="1"/>
          <p:nvPr/>
        </p:nvSpPr>
        <p:spPr>
          <a:xfrm>
            <a:off x="9296400" y="2800350"/>
            <a:ext cx="7191375" cy="869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AgriTech transforms fragmented agricultural data into trusted supply-chain intelligence.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96400" y="3943350"/>
            <a:ext cx="7191375" cy="869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Clean Data → Validated Analytics → Interactive Dashboard → AI-Powered Insights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96400" y="5276850"/>
            <a:ext cx="7191375" cy="746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9"/>
              </a:lnSpc>
            </a:pPr>
            <a:r>
              <a:rPr lang="en-US" sz="20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MANDI → SUPPLY → PRICE → LOGISTICS → WEATHER → INTELLIGENCE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21144" y="495211"/>
            <a:ext cx="5448300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40"/>
              </a:lnSpc>
            </a:pPr>
            <a:r>
              <a:rPr lang="en-US" sz="2400" b="1" spc="60">
                <a:solidFill>
                  <a:srgbClr val="DED7C4"/>
                </a:solidFill>
                <a:latin typeface="Garet Bold"/>
                <a:ea typeface="Garet Bold"/>
                <a:cs typeface="Garet Bold"/>
                <a:sym typeface="Garet Bold"/>
              </a:rPr>
              <a:t>TRANSORG AGENTIQ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978</Words>
  <Application>Microsoft Office PowerPoint</Application>
  <PresentationFormat>Custom</PresentationFormat>
  <Paragraphs>162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Helvetica World</vt:lpstr>
      <vt:lpstr>Helvetica World Bold</vt:lpstr>
      <vt:lpstr>Garet Bold</vt:lpstr>
      <vt:lpstr>Calibri</vt:lpstr>
      <vt:lpstr>Times New Roman</vt:lpstr>
      <vt:lpstr>Arial</vt:lpstr>
      <vt:lpstr>Canva Sans Bold</vt:lpstr>
      <vt:lpstr>Arimo</vt:lpstr>
      <vt:lpstr>Arimo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Mandi to Market Optimizer</dc:title>
  <dc:description>Presentation - Mandi to Market Optimizer</dc:description>
  <cp:lastModifiedBy>Ankit Kumar Singh</cp:lastModifiedBy>
  <cp:revision>4</cp:revision>
  <dcterms:created xsi:type="dcterms:W3CDTF">2006-08-16T00:00:00Z</dcterms:created>
  <dcterms:modified xsi:type="dcterms:W3CDTF">2026-09-16T14:20:10Z</dcterms:modified>
  <dc:identifier>DAHVWiVN1V0</dc:identifier>
</cp:coreProperties>
</file>