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Helvetica World" panose="020B0604020202020204" charset="-128"/>
      <p:regular r:id="rId17"/>
    </p:embeddedFont>
    <p:embeddedFont>
      <p:font typeface="Helvetica World Bold" panose="020B0604020202020204" charset="-128"/>
      <p:regular r:id="rId18"/>
    </p:embeddedFont>
    <p:embeddedFont>
      <p:font typeface="Arimo" panose="020B0604020202020204" charset="0"/>
      <p:regular r:id="rId19"/>
    </p:embeddedFont>
    <p:embeddedFont>
      <p:font typeface="Arimo Bold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Garet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7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gritech-byankith.streamlit.app" TargetMode="External"/><Relationship Id="rId2" Type="http://schemas.openxmlformats.org/officeDocument/2006/relationships/hyperlink" Target="https://github.com/httpsankuu/agriTech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458190">
            <a:off x="10477411" y="-4291124"/>
            <a:ext cx="13610886" cy="8302196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393C4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11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5400000">
            <a:off x="9296383" y="1330628"/>
            <a:ext cx="8302229" cy="8302196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393C4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004210" y="2038438"/>
            <a:ext cx="6886575" cy="6886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1144" y="1366226"/>
            <a:ext cx="8324850" cy="5602154"/>
            <a:chOff x="-249386" y="-1825500"/>
            <a:chExt cx="11099800" cy="7469539"/>
          </a:xfrm>
        </p:grpSpPr>
        <p:sp>
          <p:nvSpPr>
            <p:cNvPr id="10" name="TextBox 10"/>
            <p:cNvSpPr txBox="1"/>
            <p:nvPr/>
          </p:nvSpPr>
          <p:spPr>
            <a:xfrm>
              <a:off x="-249386" y="-1825500"/>
              <a:ext cx="11099800" cy="5401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60"/>
                </a:lnSpc>
              </a:pPr>
              <a:r>
                <a:rPr lang="en-US" sz="9600" b="1" spc="-240" dirty="0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Mandi to Market Optimizer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12441" y="4103530"/>
              <a:ext cx="9588500" cy="15405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dirty="0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comprehensive solution integrating data, analytics, and decision intelligence for the agricultural supply chain.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1144" y="495211"/>
            <a:ext cx="54483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BF9B8-3322-5F86-5FBE-B4DF1133DCA9}"/>
              </a:ext>
            </a:extLst>
          </p:cNvPr>
          <p:cNvSpPr txBox="1"/>
          <p:nvPr/>
        </p:nvSpPr>
        <p:spPr>
          <a:xfrm>
            <a:off x="321144" y="8801098"/>
            <a:ext cx="3224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Gnaneshwar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12510404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B5C61-4D5B-37D5-3486-E3AE712C6660}"/>
              </a:ext>
            </a:extLst>
          </p:cNvPr>
          <p:cNvSpPr txBox="1"/>
          <p:nvPr/>
        </p:nvSpPr>
        <p:spPr>
          <a:xfrm>
            <a:off x="3622836" y="8801100"/>
            <a:ext cx="3224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3: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 Rohith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12516500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1DEA5D-0600-153D-EEE2-199B6EE2244B}"/>
              </a:ext>
            </a:extLst>
          </p:cNvPr>
          <p:cNvSpPr txBox="1"/>
          <p:nvPr/>
        </p:nvSpPr>
        <p:spPr>
          <a:xfrm>
            <a:off x="7116064" y="8801099"/>
            <a:ext cx="3224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4: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Santhosh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12510312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CA6B1-780D-E0B4-474E-BA9114101CFC}"/>
              </a:ext>
            </a:extLst>
          </p:cNvPr>
          <p:cNvSpPr txBox="1"/>
          <p:nvPr/>
        </p:nvSpPr>
        <p:spPr>
          <a:xfrm>
            <a:off x="321144" y="7663564"/>
            <a:ext cx="3224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FourByte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1: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Kumar Singh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12504384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776980"/>
            <a:chOff x="0" y="0"/>
            <a:chExt cx="9182100" cy="503597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9182100" cy="1462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189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30450"/>
              <a:ext cx="7264400" cy="2705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India's agricultural supply chain generates </a:t>
              </a:r>
              <a:r>
                <a:rPr lang="en-US" sz="2799" b="1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but lacks intelligence</a:t>
              </a: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creating challenges for effective decision-making.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1" y="-6945469"/>
            <a:ext cx="12137552" cy="16578310"/>
            <a:chOff x="1" y="1541001"/>
            <a:chExt cx="16183402" cy="22104413"/>
          </a:xfrm>
        </p:grpSpPr>
        <p:grpSp>
          <p:nvGrpSpPr>
            <p:cNvPr id="6" name="Group 6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</p:grpSp>
      <p:sp>
        <p:nvSpPr>
          <p:cNvPr id="13" name="TextBox 13"/>
          <p:cNvSpPr txBox="1"/>
          <p:nvPr/>
        </p:nvSpPr>
        <p:spPr>
          <a:xfrm>
            <a:off x="666750" y="4941565"/>
            <a:ext cx="5424237" cy="246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393C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Messy crop names</a:t>
            </a:r>
          </a:p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393C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Mixed units </a:t>
            </a:r>
          </a:p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393C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 </a:t>
            </a:r>
          </a:p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393C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Invalid transit times</a:t>
            </a:r>
          </a:p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393C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 timestamps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4395946"/>
            <a:chOff x="0" y="0"/>
            <a:chExt cx="9182100" cy="5861262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8596926" cy="1462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189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Our Solution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30450"/>
              <a:ext cx="91821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Mandi Intelligence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206538"/>
              <a:ext cx="7264400" cy="2654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Transforming messy datasets into actionable insights requires a </a:t>
              </a:r>
              <a:r>
                <a:rPr lang="en-US" sz="2799" b="1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streamlined process</a:t>
              </a: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effective decision-making and analysis.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1" y="-6945469"/>
            <a:ext cx="12137551" cy="16578310"/>
            <a:chOff x="1" y="1541001"/>
            <a:chExt cx="16183402" cy="22104413"/>
          </a:xfrm>
        </p:grpSpPr>
        <p:grpSp>
          <p:nvGrpSpPr>
            <p:cNvPr id="7" name="Group 7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666750" y="5600700"/>
            <a:ext cx="8317897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RAW DATA → CLEANING → SQLITE </a:t>
            </a:r>
          </a:p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→ ANALYTICS → DASHBOARD → AI 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5062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Data Trustworthiness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3258160"/>
            <a:ext cx="4010025" cy="3100546"/>
            <a:chOff x="0" y="0"/>
            <a:chExt cx="5346700" cy="4134062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Standardization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18938"/>
              <a:ext cx="5346700" cy="3315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Implementing consistent </a:t>
              </a:r>
              <a:r>
                <a:rPr lang="en-US" sz="2799" b="1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name</a:t>
              </a: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Mandi ID formats ensures a reliable data foundation for analysis.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5569" y="3258160"/>
            <a:ext cx="4010025" cy="3557746"/>
            <a:chOff x="0" y="0"/>
            <a:chExt cx="5346700" cy="4743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Conversion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18938"/>
              <a:ext cx="5346700" cy="3924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Converting measurements like quantity to quintals and distance to kilometers enhances data integrity and usability.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984381" y="3258160"/>
            <a:ext cx="4010025" cy="3062446"/>
            <a:chOff x="0" y="0"/>
            <a:chExt cx="5346700" cy="408326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53467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Validation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18938"/>
              <a:ext cx="5346700" cy="3264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and excluding invalid records, such as negative transit times, guarantees data quality throughout the pipeline.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9040" y="8197032"/>
            <a:ext cx="15116166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57 Mandis     25,000 Arrivals     12,000 Prices     10,000 Trips     15,000 Weather Records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86296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Analytics Engine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72950" y="7834312"/>
            <a:ext cx="5448300" cy="1737360"/>
            <a:chOff x="0" y="0"/>
            <a:chExt cx="7264400" cy="2316480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Clean Architecture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4855"/>
              <a:ext cx="7264400" cy="1571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streamlined structure supports data flow, ensuring that cleaned data effectively feeds into the analytics layer for reliable analysis.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4675" y="780669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72950" y="5148262"/>
            <a:ext cx="5448300" cy="2137410"/>
            <a:chOff x="0" y="0"/>
            <a:chExt cx="7264400" cy="2849880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SQLite Database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44855"/>
              <a:ext cx="7264400" cy="210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Utilizing SQLite, the architecture efficiently stores and exposes various analytical views, enhancing data retrieval for stakeholders.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34675" y="512064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72950" y="2457450"/>
            <a:ext cx="5448300" cy="2137410"/>
            <a:chOff x="0" y="0"/>
            <a:chExt cx="7264400" cy="28498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44855"/>
              <a:ext cx="7264400" cy="210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</a:pPr>
              <a:r>
                <a:rPr lang="en-US" sz="2250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analytical layer produces insights for decision-makers, providing multiple signals from cleaned datasets for actionable intelligence.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Decision Signals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734675" y="243459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46820" y="2853690"/>
            <a:ext cx="2483069" cy="1486193"/>
            <a:chOff x="0" y="0"/>
            <a:chExt cx="1181956" cy="7074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40305" y="0"/>
                  </a:moveTo>
                  <a:lnTo>
                    <a:pt x="1041652" y="0"/>
                  </a:lnTo>
                  <a:cubicBezTo>
                    <a:pt x="1078863" y="0"/>
                    <a:pt x="1114550" y="14782"/>
                    <a:pt x="1140862" y="41094"/>
                  </a:cubicBezTo>
                  <a:cubicBezTo>
                    <a:pt x="1167174" y="67407"/>
                    <a:pt x="1181956" y="103094"/>
                    <a:pt x="1181956" y="140305"/>
                  </a:cubicBezTo>
                  <a:lnTo>
                    <a:pt x="1181956" y="567132"/>
                  </a:lnTo>
                  <a:cubicBezTo>
                    <a:pt x="1181956" y="644620"/>
                    <a:pt x="1119140" y="707437"/>
                    <a:pt x="1041652" y="707437"/>
                  </a:cubicBezTo>
                  <a:lnTo>
                    <a:pt x="140305" y="707437"/>
                  </a:lnTo>
                  <a:cubicBezTo>
                    <a:pt x="103094" y="707437"/>
                    <a:pt x="67407" y="692655"/>
                    <a:pt x="41094" y="666343"/>
                  </a:cubicBezTo>
                  <a:cubicBezTo>
                    <a:pt x="14782" y="640031"/>
                    <a:pt x="0" y="604343"/>
                    <a:pt x="0" y="567132"/>
                  </a:cubicBezTo>
                  <a:lnTo>
                    <a:pt x="0" y="140305"/>
                  </a:lnTo>
                  <a:cubicBezTo>
                    <a:pt x="0" y="103094"/>
                    <a:pt x="14782" y="67407"/>
                    <a:pt x="41094" y="41094"/>
                  </a:cubicBezTo>
                  <a:cubicBezTo>
                    <a:pt x="67407" y="14782"/>
                    <a:pt x="103094" y="0"/>
                    <a:pt x="140305" y="0"/>
                  </a:cubicBezTo>
                  <a:close/>
                </a:path>
              </a:pathLst>
            </a:custGeom>
            <a:solidFill>
              <a:srgbClr val="393C40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1181956" cy="65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2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46504" y="3222280"/>
            <a:ext cx="2083702" cy="77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8"/>
              </a:lnSpc>
            </a:pPr>
            <a:r>
              <a:rPr lang="en-US" sz="2780" b="1" spc="-69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5,659,184.82 Qtl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145690" y="2853690"/>
            <a:ext cx="2483069" cy="1486193"/>
            <a:chOff x="0" y="0"/>
            <a:chExt cx="1181956" cy="7074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40305" y="0"/>
                  </a:moveTo>
                  <a:lnTo>
                    <a:pt x="1041652" y="0"/>
                  </a:lnTo>
                  <a:cubicBezTo>
                    <a:pt x="1078863" y="0"/>
                    <a:pt x="1114550" y="14782"/>
                    <a:pt x="1140862" y="41094"/>
                  </a:cubicBezTo>
                  <a:cubicBezTo>
                    <a:pt x="1167174" y="67407"/>
                    <a:pt x="1181956" y="103094"/>
                    <a:pt x="1181956" y="140305"/>
                  </a:cubicBezTo>
                  <a:lnTo>
                    <a:pt x="1181956" y="567132"/>
                  </a:lnTo>
                  <a:cubicBezTo>
                    <a:pt x="1181956" y="644620"/>
                    <a:pt x="1119140" y="707437"/>
                    <a:pt x="1041652" y="707437"/>
                  </a:cubicBezTo>
                  <a:lnTo>
                    <a:pt x="140305" y="707437"/>
                  </a:lnTo>
                  <a:cubicBezTo>
                    <a:pt x="103094" y="707437"/>
                    <a:pt x="67407" y="692655"/>
                    <a:pt x="41094" y="666343"/>
                  </a:cubicBezTo>
                  <a:cubicBezTo>
                    <a:pt x="14782" y="640031"/>
                    <a:pt x="0" y="604343"/>
                    <a:pt x="0" y="567132"/>
                  </a:cubicBezTo>
                  <a:lnTo>
                    <a:pt x="0" y="140305"/>
                  </a:lnTo>
                  <a:cubicBezTo>
                    <a:pt x="0" y="103094"/>
                    <a:pt x="14782" y="67407"/>
                    <a:pt x="41094" y="41094"/>
                  </a:cubicBezTo>
                  <a:cubicBezTo>
                    <a:pt x="67407" y="14782"/>
                    <a:pt x="103094" y="0"/>
                    <a:pt x="140305" y="0"/>
                  </a:cubicBezTo>
                  <a:close/>
                </a:path>
              </a:pathLst>
            </a:custGeom>
            <a:solidFill>
              <a:srgbClr val="393C40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181956" cy="65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2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345374" y="3414642"/>
            <a:ext cx="2083702" cy="39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8"/>
              </a:lnSpc>
            </a:pPr>
            <a:r>
              <a:rPr lang="en-US" sz="2780" b="1" spc="-69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3,924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245372" y="2853690"/>
            <a:ext cx="2483069" cy="1486193"/>
            <a:chOff x="0" y="0"/>
            <a:chExt cx="1181956" cy="70743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40305" y="0"/>
                  </a:moveTo>
                  <a:lnTo>
                    <a:pt x="1041652" y="0"/>
                  </a:lnTo>
                  <a:cubicBezTo>
                    <a:pt x="1078863" y="0"/>
                    <a:pt x="1114550" y="14782"/>
                    <a:pt x="1140862" y="41094"/>
                  </a:cubicBezTo>
                  <a:cubicBezTo>
                    <a:pt x="1167174" y="67407"/>
                    <a:pt x="1181956" y="103094"/>
                    <a:pt x="1181956" y="140305"/>
                  </a:cubicBezTo>
                  <a:lnTo>
                    <a:pt x="1181956" y="567132"/>
                  </a:lnTo>
                  <a:cubicBezTo>
                    <a:pt x="1181956" y="644620"/>
                    <a:pt x="1119140" y="707437"/>
                    <a:pt x="1041652" y="707437"/>
                  </a:cubicBezTo>
                  <a:lnTo>
                    <a:pt x="140305" y="707437"/>
                  </a:lnTo>
                  <a:cubicBezTo>
                    <a:pt x="103094" y="707437"/>
                    <a:pt x="67407" y="692655"/>
                    <a:pt x="41094" y="666343"/>
                  </a:cubicBezTo>
                  <a:cubicBezTo>
                    <a:pt x="14782" y="640031"/>
                    <a:pt x="0" y="604343"/>
                    <a:pt x="0" y="567132"/>
                  </a:cubicBezTo>
                  <a:lnTo>
                    <a:pt x="0" y="140305"/>
                  </a:lnTo>
                  <a:cubicBezTo>
                    <a:pt x="0" y="103094"/>
                    <a:pt x="14782" y="67407"/>
                    <a:pt x="41094" y="41094"/>
                  </a:cubicBezTo>
                  <a:cubicBezTo>
                    <a:pt x="67407" y="14782"/>
                    <a:pt x="103094" y="0"/>
                    <a:pt x="140305" y="0"/>
                  </a:cubicBezTo>
                  <a:close/>
                </a:path>
              </a:pathLst>
            </a:custGeom>
            <a:solidFill>
              <a:srgbClr val="393C40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47625"/>
              <a:ext cx="1181956" cy="65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2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445055" y="3415344"/>
            <a:ext cx="2083702" cy="39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8"/>
              </a:lnSpc>
            </a:pPr>
            <a:r>
              <a:rPr lang="en-US" sz="2780" b="1" spc="-69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18.68%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6820" y="4505114"/>
            <a:ext cx="2483069" cy="25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  <a:spcBef>
                <a:spcPct val="0"/>
              </a:spcBef>
            </a:pPr>
            <a:r>
              <a:rPr lang="en-US" sz="1549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Total crop arrivals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45690" y="4505114"/>
            <a:ext cx="2483069" cy="25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  <a:spcBef>
                <a:spcPct val="0"/>
              </a:spcBef>
            </a:pPr>
            <a:r>
              <a:rPr lang="en-US" sz="1549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Price crash instances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94356" y="4505114"/>
            <a:ext cx="2483069" cy="25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549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Transport delay rate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145690" y="5038552"/>
            <a:ext cx="2483069" cy="1905173"/>
            <a:chOff x="0" y="0"/>
            <a:chExt cx="3310759" cy="2540231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310759" cy="1981591"/>
              <a:chOff x="0" y="0"/>
              <a:chExt cx="1181956" cy="7074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81956" cy="707437"/>
              </a:xfrm>
              <a:custGeom>
                <a:avLst/>
                <a:gdLst/>
                <a:ahLst/>
                <a:cxnLst/>
                <a:rect l="l" t="t" r="r" b="b"/>
                <a:pathLst>
                  <a:path w="1181956" h="707437">
                    <a:moveTo>
                      <a:pt x="77631" y="0"/>
                    </a:moveTo>
                    <a:lnTo>
                      <a:pt x="1104326" y="0"/>
                    </a:lnTo>
                    <a:cubicBezTo>
                      <a:pt x="1147200" y="0"/>
                      <a:pt x="1181956" y="34756"/>
                      <a:pt x="1181956" y="77631"/>
                    </a:cubicBezTo>
                    <a:lnTo>
                      <a:pt x="1181956" y="629806"/>
                    </a:lnTo>
                    <a:cubicBezTo>
                      <a:pt x="1181956" y="672681"/>
                      <a:pt x="1147200" y="707437"/>
                      <a:pt x="1104326" y="707437"/>
                    </a:cubicBezTo>
                    <a:lnTo>
                      <a:pt x="77631" y="707437"/>
                    </a:lnTo>
                    <a:cubicBezTo>
                      <a:pt x="34756" y="707437"/>
                      <a:pt x="0" y="672681"/>
                      <a:pt x="0" y="629806"/>
                    </a:cubicBezTo>
                    <a:lnTo>
                      <a:pt x="0" y="77631"/>
                    </a:lnTo>
                    <a:cubicBezTo>
                      <a:pt x="0" y="34756"/>
                      <a:pt x="34756" y="0"/>
                      <a:pt x="77631" y="0"/>
                    </a:cubicBezTo>
                    <a:close/>
                  </a:path>
                </a:pathLst>
              </a:custGeom>
              <a:solidFill>
                <a:srgbClr val="393C4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47625"/>
                <a:ext cx="1181956" cy="659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527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66245" y="738411"/>
              <a:ext cx="2778269" cy="531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58"/>
                </a:lnSpc>
              </a:pPr>
              <a:r>
                <a:rPr lang="en-US" sz="2780" b="1" spc="-69">
                  <a:solidFill>
                    <a:srgbClr val="DED7C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208248"/>
              <a:ext cx="3310759" cy="3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68"/>
                </a:lnSpc>
                <a:spcBef>
                  <a:spcPct val="0"/>
                </a:spcBef>
              </a:pPr>
              <a:r>
                <a:rPr lang="en-US" sz="154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Rout</a:t>
              </a:r>
              <a:r>
                <a:rPr lang="en-US" sz="154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 Monitored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050"/>
            <a:ext cx="8424862" cy="10267950"/>
            <a:chOff x="0" y="0"/>
            <a:chExt cx="2218894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894" cy="2704316"/>
            </a:xfrm>
            <a:custGeom>
              <a:avLst/>
              <a:gdLst/>
              <a:ahLst/>
              <a:cxnLst/>
              <a:rect l="l" t="t" r="r" b="b"/>
              <a:pathLst>
                <a:path w="2218894" h="2704316">
                  <a:moveTo>
                    <a:pt x="0" y="0"/>
                  </a:moveTo>
                  <a:lnTo>
                    <a:pt x="2218894" y="0"/>
                  </a:lnTo>
                  <a:lnTo>
                    <a:pt x="2218894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DED7C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18894" cy="2761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417519" y="2906047"/>
            <a:ext cx="6850042" cy="3224392"/>
          </a:xfrm>
          <a:custGeom>
            <a:avLst/>
            <a:gdLst/>
            <a:ahLst/>
            <a:cxnLst/>
            <a:rect l="l" t="t" r="r" b="b"/>
            <a:pathLst>
              <a:path w="6850042" h="3224392">
                <a:moveTo>
                  <a:pt x="0" y="0"/>
                </a:moveTo>
                <a:lnTo>
                  <a:pt x="6850042" y="0"/>
                </a:lnTo>
                <a:lnTo>
                  <a:pt x="6850042" y="3224392"/>
                </a:lnTo>
                <a:lnTo>
                  <a:pt x="0" y="322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9223040" y="6348114"/>
            <a:ext cx="688657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Source: AgriTech Analytics 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42950"/>
            <a:ext cx="68865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Supply Intelligence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6400" y="7291070"/>
            <a:ext cx="8324850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Ranked by arrival volume and crop-wise distribution, drawn from the cleaned Crop Arrivals dataset. The daily trend excludes the dataset's blank-date aggregate row (4,825,951.80 Qtl).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3758" y="971550"/>
            <a:ext cx="7084984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TOP 5 MANDIS BY ARRIVAL VOLUME (QTL)</a:t>
            </a:r>
          </a:p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South Dumdum Grain Market — 20,539</a:t>
            </a:r>
          </a:p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Arrah Mandi — 20,454</a:t>
            </a:r>
          </a:p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Gurgaon Grain Market — 18,923</a:t>
            </a:r>
          </a:p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Asansol Grain Market — 17,948</a:t>
            </a:r>
          </a:p>
          <a:p>
            <a:pPr algn="l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5. Hyderabad Mandi — 17,863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7833" y="5809021"/>
            <a:ext cx="7296835" cy="11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CROP-WISE ARRIVAL DISTRIBUTION (QTL)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Mustard 966,396    Wheat 965,396    Sugarcane 949,853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Maize 940,987    Cotton 922,311    Rice 914,242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68865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Price Discovery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426374"/>
            <a:ext cx="6886575" cy="2206466"/>
            <a:chOff x="0" y="0"/>
            <a:chExt cx="9182100" cy="29419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91821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Price Crash Instances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9934"/>
              <a:ext cx="9182100" cy="2192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Definition: Price crash = Modal Price &lt; MSP. 610 records missing Modal Price. 2,377 records missing MSP. Does not establish why crashes occurred.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15445" y="-11887012"/>
            <a:ext cx="15250896" cy="17734061"/>
            <a:chOff x="0" y="0"/>
            <a:chExt cx="20334528" cy="23645414"/>
          </a:xfrm>
        </p:grpSpPr>
        <p:grpSp>
          <p:nvGrpSpPr>
            <p:cNvPr id="7" name="Group 7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666750" y="3771900"/>
            <a:ext cx="381000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50"/>
              </a:lnSpc>
            </a:pPr>
            <a:r>
              <a:rPr lang="en-US" sz="9750" b="1">
                <a:solidFill>
                  <a:srgbClr val="B42318"/>
                </a:solidFill>
                <a:latin typeface="Arimo Bold"/>
                <a:ea typeface="Arimo Bold"/>
                <a:cs typeface="Arimo Bold"/>
                <a:sym typeface="Arimo Bold"/>
              </a:rPr>
              <a:t>3,924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2990850"/>
            <a:ext cx="688657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57A55"/>
                </a:solidFill>
                <a:latin typeface="Arimo Bold"/>
                <a:ea typeface="Arimo Bold"/>
                <a:cs typeface="Arimo Bold"/>
                <a:sym typeface="Arimo Bold"/>
              </a:rPr>
              <a:t>When wholesale price falls below MSP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3D0870-716A-38FB-9245-ADF878CC3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911" y="1890711"/>
            <a:ext cx="7191377" cy="71913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7067" y="4573874"/>
            <a:ext cx="14907864" cy="0"/>
          </a:xfrm>
          <a:prstGeom prst="line">
            <a:avLst/>
          </a:prstGeom>
          <a:ln w="19050" cap="flat">
            <a:solidFill>
              <a:srgbClr val="557A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333217" y="441194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93C4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648042" y="441194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93C4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1962867" y="4421474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93C4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66750" y="742950"/>
            <a:ext cx="15821025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Logistics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33217" y="2780881"/>
            <a:ext cx="2876550" cy="105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Routes Monitored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3217" y="5297774"/>
            <a:ext cx="2867025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342 monitored routes. 8,455 valid transit trips. 539 invalid negative transit records excluded from calculations.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8042" y="2780881"/>
            <a:ext cx="2876550" cy="105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Delay Methodology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8042" y="5297774"/>
            <a:ext cx="2867025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route is flagged delayed when transit time exceeds 1.5x the average valid transit time for that Mandi to Warehouse route.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62867" y="3314281"/>
            <a:ext cx="2876550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Delay Rate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62867" y="5297774"/>
            <a:ext cx="2867025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1,584 delayed trips. 18.68% transport delay rate. Identified delay patterns, not a claim of reduced delays.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68865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 dirty="0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Weather × Supply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886700"/>
            <a:ext cx="6886575" cy="1787366"/>
            <a:chOff x="0" y="0"/>
            <a:chExt cx="9182100" cy="23831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91821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Observed Relationship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9934"/>
              <a:ext cx="9182100" cy="163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vs arrival volume, aggregated to daily grain before joining with arrivals, preventing many-to-many inflation. Not a causal claim.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97415" y="-12590561"/>
            <a:ext cx="15250896" cy="17734061"/>
            <a:chOff x="0" y="0"/>
            <a:chExt cx="20334528" cy="23645414"/>
          </a:xfrm>
        </p:grpSpPr>
        <p:grpSp>
          <p:nvGrpSpPr>
            <p:cNvPr id="7" name="Group 7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666750" y="3648230"/>
            <a:ext cx="14181158" cy="172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</a:pPr>
            <a:r>
              <a:rPr lang="en-US" sz="2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CURRENT DASHBOARD VIEW</a:t>
            </a:r>
          </a:p>
          <a:p>
            <a:pPr algn="l">
              <a:lnSpc>
                <a:spcPts val="3459"/>
              </a:lnSpc>
            </a:pPr>
            <a:r>
              <a:rPr lang="en-US" sz="2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52 weather-matched arrival days</a:t>
            </a:r>
          </a:p>
          <a:p>
            <a:pPr algn="l">
              <a:lnSpc>
                <a:spcPts val="3459"/>
              </a:lnSpc>
            </a:pPr>
            <a:r>
              <a:rPr lang="en-US" sz="2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3,276 unmatched days retained with NULL weather metrics</a:t>
            </a:r>
          </a:p>
          <a:p>
            <a:pPr algn="l">
              <a:lnSpc>
                <a:spcPts val="3459"/>
              </a:lnSpc>
            </a:pPr>
            <a:r>
              <a:rPr lang="en-US" sz="2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(filtered view — not a global project total)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1253875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187314"/>
            <a:ext cx="9144000" cy="4646488"/>
            <a:chOff x="0" y="0"/>
            <a:chExt cx="1361119" cy="691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1119" cy="691647"/>
            </a:xfrm>
            <a:custGeom>
              <a:avLst/>
              <a:gdLst/>
              <a:ahLst/>
              <a:cxnLst/>
              <a:rect l="l" t="t" r="r" b="b"/>
              <a:pathLst>
                <a:path w="1361119" h="691647">
                  <a:moveTo>
                    <a:pt x="29633" y="0"/>
                  </a:moveTo>
                  <a:lnTo>
                    <a:pt x="1331485" y="0"/>
                  </a:lnTo>
                  <a:cubicBezTo>
                    <a:pt x="1339345" y="0"/>
                    <a:pt x="1346882" y="3122"/>
                    <a:pt x="1352439" y="8679"/>
                  </a:cubicBezTo>
                  <a:cubicBezTo>
                    <a:pt x="1357996" y="14237"/>
                    <a:pt x="1361119" y="21774"/>
                    <a:pt x="1361119" y="29633"/>
                  </a:cubicBezTo>
                  <a:lnTo>
                    <a:pt x="1361119" y="662014"/>
                  </a:lnTo>
                  <a:cubicBezTo>
                    <a:pt x="1361119" y="669873"/>
                    <a:pt x="1357996" y="677410"/>
                    <a:pt x="1352439" y="682968"/>
                  </a:cubicBezTo>
                  <a:cubicBezTo>
                    <a:pt x="1346882" y="688525"/>
                    <a:pt x="1339345" y="691647"/>
                    <a:pt x="1331485" y="691647"/>
                  </a:cubicBezTo>
                  <a:lnTo>
                    <a:pt x="29633" y="691647"/>
                  </a:lnTo>
                  <a:cubicBezTo>
                    <a:pt x="21774" y="691647"/>
                    <a:pt x="14237" y="688525"/>
                    <a:pt x="8679" y="682968"/>
                  </a:cubicBezTo>
                  <a:cubicBezTo>
                    <a:pt x="3122" y="677410"/>
                    <a:pt x="0" y="669873"/>
                    <a:pt x="0" y="662014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4" name="Freeform 4"/>
          <p:cNvSpPr/>
          <p:nvPr/>
        </p:nvSpPr>
        <p:spPr>
          <a:xfrm>
            <a:off x="8991600" y="5143500"/>
            <a:ext cx="9132342" cy="4628956"/>
          </a:xfrm>
          <a:custGeom>
            <a:avLst/>
            <a:gdLst/>
            <a:ahLst/>
            <a:cxnLst/>
            <a:rect l="l" t="t" r="r" b="b"/>
            <a:pathLst>
              <a:path w="9132342" h="4628956">
                <a:moveTo>
                  <a:pt x="0" y="0"/>
                </a:moveTo>
                <a:lnTo>
                  <a:pt x="9132342" y="0"/>
                </a:lnTo>
                <a:lnTo>
                  <a:pt x="9132342" y="4628956"/>
                </a:lnTo>
                <a:lnTo>
                  <a:pt x="0" y="4628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id="5" name="Group 5"/>
          <p:cNvGrpSpPr/>
          <p:nvPr/>
        </p:nvGrpSpPr>
        <p:grpSpPr>
          <a:xfrm>
            <a:off x="666750" y="666750"/>
            <a:ext cx="8324850" cy="5081746"/>
            <a:chOff x="0" y="0"/>
            <a:chExt cx="11099800" cy="6775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76200"/>
              <a:ext cx="11099800" cy="2871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189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Executive Dashboard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95650"/>
              <a:ext cx="11099800" cy="673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One Screen for Mandi to Market Intelligence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171738"/>
              <a:ext cx="11099800" cy="2603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dashboard provides a comprehensive overview of critical agricultural data, integrating supply, pricing, logistics, and weather information for informed decision-making across the supply chain.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6229350"/>
            <a:ext cx="8324850" cy="39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Interactive Streamlit dashboard for supply-chain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045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68865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AI Query Agent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429500"/>
            <a:ext cx="6886575" cy="2244566"/>
            <a:chOff x="0" y="0"/>
            <a:chExt cx="9182100" cy="29927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9182100" cy="1176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Ask the Data Instead of Searching Through Charts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59534"/>
              <a:ext cx="9182100" cy="163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Ask questions about the supply chain data in plain English. The agent converts your query into SQL and generates charts automatically.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-8101220"/>
            <a:ext cx="15250896" cy="17734061"/>
            <a:chOff x="0" y="0"/>
            <a:chExt cx="20334528" cy="23645414"/>
          </a:xfrm>
        </p:grpSpPr>
        <p:grpSp>
          <p:nvGrpSpPr>
            <p:cNvPr id="7" name="Group 7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943747" y="13519545"/>
              <a:ext cx="9182100" cy="91821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666750" y="3095703"/>
            <a:ext cx="8575359" cy="52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 QUESTION → AI QUERY AGENT → ANALYTICAL QUERY → DATA-BACKED RESULT → CHART + TEXT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750" y="3797507"/>
            <a:ext cx="8056729" cy="294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EXAMPLE QUESTIONS</a:t>
            </a:r>
          </a:p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Show Wheat arrivals in Amritsar mandi.</a:t>
            </a:r>
          </a:p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Which mandis have prices below MSP?</a:t>
            </a:r>
          </a:p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is the highest average transit delay?</a:t>
            </a:r>
          </a:p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Show rainfall by district.</a:t>
            </a:r>
          </a:p>
          <a:p>
            <a:pPr algn="l">
              <a:lnSpc>
                <a:spcPts val="3926"/>
              </a:lnSpc>
            </a:pPr>
            <a:r>
              <a:rPr lang="en-US" sz="28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are the highest-volume warehouses?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8629650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Technical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72950" y="7834312"/>
            <a:ext cx="5448300" cy="1765935"/>
            <a:chOff x="0" y="0"/>
            <a:chExt cx="7264400" cy="2354580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Technology Stack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4855"/>
              <a:ext cx="7264400" cy="160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Built using Python, SQLite, and Streamlit, the </a:t>
              </a:r>
              <a:r>
                <a:rPr lang="en-US" sz="2250" b="1" u="none" strike="noStrike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technology stack</a:t>
              </a: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supports robust data handling and visualization capabilities.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4675" y="780669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72950" y="5148262"/>
            <a:ext cx="5448300" cy="2165985"/>
            <a:chOff x="0" y="0"/>
            <a:chExt cx="7264400" cy="2887980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44855"/>
              <a:ext cx="7264400" cy="2143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architecture ensures </a:t>
              </a:r>
              <a:r>
                <a:rPr lang="en-US" sz="2250" b="1" u="none" strike="noStrike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reproducibility</a:t>
              </a:r>
              <a:r>
                <a:rPr lang="en-US" sz="225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allowing for consistent data cleaning and analytical processing through well-defined Python scripts.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34675" y="512064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72950" y="2457450"/>
            <a:ext cx="5448300" cy="1765935"/>
            <a:chOff x="0" y="0"/>
            <a:chExt cx="7264400" cy="23545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44855"/>
              <a:ext cx="7264400" cy="160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</a:pPr>
              <a:r>
                <a:rPr lang="en-US" sz="2250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streamlined </a:t>
              </a:r>
              <a:r>
                <a:rPr lang="en-US" sz="2250" b="1">
                  <a:solidFill>
                    <a:srgbClr val="393C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pipeline</a:t>
              </a:r>
              <a:r>
                <a:rPr lang="en-US" sz="2250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efficiently connects raw datasets to a clean analytics database for effective decision-making.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Pipeline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734675" y="2434590"/>
            <a:ext cx="58557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557A5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750" y="3142479"/>
            <a:ext cx="4939398" cy="668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Raw Datasets</a:t>
            </a:r>
          </a:p>
          <a:p>
            <a:pPr algn="just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Cleaning Pipeline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Clean Dataset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SQLite Analytics Database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Validated SQL Views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Streamlit Dashboard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↓</a:t>
            </a:r>
          </a:p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Query 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393C4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11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7191375" cy="10958830"/>
            <a:chOff x="0" y="0"/>
            <a:chExt cx="9588500" cy="14611774"/>
          </a:xfrm>
        </p:grpSpPr>
        <p:sp>
          <p:nvSpPr>
            <p:cNvPr id="6" name="TextBox 6"/>
            <p:cNvSpPr txBox="1"/>
            <p:nvPr/>
          </p:nvSpPr>
          <p:spPr>
            <a:xfrm>
              <a:off x="0" y="57150"/>
              <a:ext cx="9588500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00"/>
                </a:lnSpc>
                <a:spcBef>
                  <a:spcPct val="0"/>
                </a:spcBef>
              </a:pPr>
              <a:r>
                <a:rPr lang="en-US" sz="6000" b="1" u="none" strike="noStrike" spc="-150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Validation &amp; Reproducibility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403850"/>
              <a:ext cx="9588500" cy="9207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Cleaned row counts reconciled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Duplicate handling verified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Arrival totals reconciled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Weather join checked for many-to-many inflation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Price crash condition manually validated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Invalid transit records excluded from valid calculations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Route delay methodology validated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✓ Analytical views tested against source data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Raw data remains untouched. Cleaning and analytics are reproducible through Python scripts.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  <p:sp>
        <p:nvSpPr>
          <p:cNvPr id="13" name="TextBox 13"/>
          <p:cNvSpPr txBox="1"/>
          <p:nvPr/>
        </p:nvSpPr>
        <p:spPr>
          <a:xfrm>
            <a:off x="9296400" y="4143375"/>
            <a:ext cx="47625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557A55"/>
                </a:solidFill>
                <a:latin typeface="Arimo Bold"/>
                <a:ea typeface="Arimo Bold"/>
                <a:cs typeface="Arimo Bold"/>
                <a:sym typeface="Arimo Bold"/>
              </a:rPr>
              <a:t>DATA QA / VALIDATED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27092" y="331470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557A55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68865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393C40"/>
                </a:solidFill>
                <a:latin typeface="Garet Bold"/>
                <a:ea typeface="Garet Bold"/>
                <a:cs typeface="Garet Bold"/>
                <a:sym typeface="Garet Bold"/>
              </a:rPr>
              <a:t>Decision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3385180"/>
            <a:ext cx="6886575" cy="4956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SUPPLY </a:t>
            </a:r>
            <a:r>
              <a:rPr lang="en-US" sz="2473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Where are arrivals concentrated?</a:t>
            </a: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endParaRPr lang="en-US" sz="2473" u="none" strike="noStrike">
              <a:solidFill>
                <a:srgbClr val="393C4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PRICE</a:t>
            </a:r>
            <a:r>
              <a:rPr lang="en-US" sz="2473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Where is modal price below MSP?</a:t>
            </a: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endParaRPr lang="en-US" sz="2473" u="none" strike="noStrike">
              <a:solidFill>
                <a:srgbClr val="393C4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LOGISTICS</a:t>
            </a:r>
            <a:r>
              <a:rPr lang="en-US" sz="2473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Which routes show higher delay frequency?</a:t>
            </a: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endParaRPr lang="en-US" sz="2473" u="none" strike="noStrike">
              <a:solidFill>
                <a:srgbClr val="393C4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WEATHER</a:t>
            </a:r>
            <a:r>
              <a:rPr lang="en-US" sz="2473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Where do rainfall patterns coincide with supply changes?</a:t>
            </a: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endParaRPr lang="en-US" sz="2473" u="none" strike="noStrike">
              <a:solidFill>
                <a:srgbClr val="393C4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462"/>
              </a:lnSpc>
              <a:spcBef>
                <a:spcPct val="0"/>
              </a:spcBef>
            </a:pPr>
            <a:r>
              <a:rPr lang="en-US" sz="2473" b="1" u="none" strike="noStrike">
                <a:solidFill>
                  <a:srgbClr val="393C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SIGNALS</a:t>
            </a:r>
            <a:r>
              <a:rPr lang="en-US" sz="2473" u="none" strike="noStrike">
                <a:solidFill>
                  <a:srgbClr val="393C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What requires attention?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-8101220"/>
            <a:ext cx="15250896" cy="17734061"/>
            <a:chOff x="0" y="0"/>
            <a:chExt cx="20334528" cy="23645414"/>
          </a:xfrm>
        </p:grpSpPr>
        <p:grpSp>
          <p:nvGrpSpPr>
            <p:cNvPr id="5" name="Group 5"/>
            <p:cNvGrpSpPr/>
            <p:nvPr/>
          </p:nvGrpSpPr>
          <p:grpSpPr>
            <a:xfrm rot="7458190">
              <a:off x="1574682" y="5080128"/>
              <a:ext cx="18147848" cy="11069594"/>
              <a:chOff x="0" y="0"/>
              <a:chExt cx="1476351" cy="9005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 rot="5400000">
              <a:off x="-22" y="12575798"/>
              <a:ext cx="11069639" cy="11069594"/>
              <a:chOff x="0" y="0"/>
              <a:chExt cx="6350000" cy="63499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943747" y="13519545"/>
              <a:ext cx="9182100" cy="9182100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4246984" y="513397"/>
            <a:ext cx="404101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990404"/>
            <a:ext cx="7191375" cy="1990248"/>
            <a:chOff x="0" y="0"/>
            <a:chExt cx="9588500" cy="2653664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GitHub: </a:t>
              </a:r>
              <a:r>
                <a:rPr lang="en-US" sz="2400" u="sng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2" tooltip="https://github.com/httpsankuu/agriTech"/>
                </a:rPr>
                <a:t>github.com/httpsankuu/agriTech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70572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Live Dashboard: </a:t>
              </a:r>
              <a:r>
                <a:rPr lang="en-US" sz="2400" u="sng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3" tooltip="https://agritech-byankith.streamlit.app"/>
                </a:rPr>
                <a:t>agritech-byankith.streamlit.app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9244"/>
              <a:ext cx="9588500" cy="1074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393C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Python · Pandas · SQLite · SQL · Streamlit · Plotly · Custom CSS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674684"/>
            <a:ext cx="7191375" cy="1781183"/>
            <a:chOff x="0" y="0"/>
            <a:chExt cx="9588500" cy="2374910"/>
          </a:xfrm>
        </p:grpSpPr>
        <p:sp>
          <p:nvSpPr>
            <p:cNvPr id="7" name="TextBox 7"/>
            <p:cNvSpPr txBox="1"/>
            <p:nvPr/>
          </p:nvSpPr>
          <p:spPr>
            <a:xfrm>
              <a:off x="0" y="76200"/>
              <a:ext cx="9588500" cy="1462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60"/>
                </a:lnSpc>
              </a:pPr>
              <a:r>
                <a:rPr lang="en-US" sz="7600" b="1" spc="-190">
                  <a:solidFill>
                    <a:srgbClr val="393C4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Conclusion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825000"/>
              <a:ext cx="9588500" cy="549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557A5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AGRITECH INTELLIGENCE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id="10" name="Group 10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393C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11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393C4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3519545" y="10208681"/>
              <a:ext cx="9182100" cy="91821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9296400" y="2800350"/>
            <a:ext cx="7191375" cy="8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AgriTech transforms fragmented agricultural data into trusted supply-chain intelligence.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0" y="3943350"/>
            <a:ext cx="719137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Clean Data → Validated Analytics → Interactive Dashboard → AI-Powered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96400" y="5276850"/>
            <a:ext cx="7191375" cy="74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MANDI → SUPPLY → PRICE → LOGISTICS → WEATHER → INTELLIGENCE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1144" y="495211"/>
            <a:ext cx="54483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DED7C4"/>
                </a:solidFill>
                <a:latin typeface="Garet Bold"/>
                <a:ea typeface="Garet Bold"/>
                <a:cs typeface="Garet Bold"/>
                <a:sym typeface="Garet Bold"/>
              </a:rPr>
              <a:t>TRANSORG AGENTIQ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977</Words>
  <Application>Microsoft Office PowerPoint</Application>
  <PresentationFormat>Custom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Arimo</vt:lpstr>
      <vt:lpstr>Garet Bold</vt:lpstr>
      <vt:lpstr>Canva Sans Bold</vt:lpstr>
      <vt:lpstr>Times New Roman</vt:lpstr>
      <vt:lpstr>Calibri</vt:lpstr>
      <vt:lpstr>Helvetica World Bold</vt:lpstr>
      <vt:lpstr>Helvetica World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Mandi to Market Optimizer</dc:title>
  <dc:creator>Ankit Kumar Singh</dc:creator>
  <dc:description>Presentation - Mandi to Market Optimizer</dc:description>
  <cp:lastModifiedBy>Ankit Kumar Singh</cp:lastModifiedBy>
  <cp:revision>8</cp:revision>
  <dcterms:created xsi:type="dcterms:W3CDTF">2006-08-16T00:00:00Z</dcterms:created>
  <dcterms:modified xsi:type="dcterms:W3CDTF">2026-09-17T16:16:14Z</dcterms:modified>
  <dc:identifier>DAHVWiVN1V0</dc:identifier>
</cp:coreProperties>
</file>